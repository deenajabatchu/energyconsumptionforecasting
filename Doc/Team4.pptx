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79" r:id="rId4"/>
    <p:sldId id="257" r:id="rId5"/>
    <p:sldId id="261" r:id="rId6"/>
    <p:sldId id="259" r:id="rId7"/>
    <p:sldId id="262" r:id="rId8"/>
    <p:sldId id="280" r:id="rId9"/>
    <p:sldId id="264" r:id="rId10"/>
    <p:sldId id="263" r:id="rId11"/>
    <p:sldId id="265" r:id="rId12"/>
    <p:sldId id="267" r:id="rId13"/>
    <p:sldId id="271" r:id="rId14"/>
    <p:sldId id="273" r:id="rId15"/>
    <p:sldId id="274" r:id="rId16"/>
    <p:sldId id="275" r:id="rId17"/>
    <p:sldId id="281" r:id="rId18"/>
    <p:sldId id="276" r:id="rId19"/>
    <p:sldId id="272"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07D901-8825-4B06-989A-26D6FA6D4B36}" v="126" dt="2026-04-21T12:39:30.5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50" autoAdjust="0"/>
    <p:restoredTop sz="94660"/>
  </p:normalViewPr>
  <p:slideViewPr>
    <p:cSldViewPr snapToGrid="0">
      <p:cViewPr>
        <p:scale>
          <a:sx n="66" d="100"/>
          <a:sy n="66" d="100"/>
        </p:scale>
        <p:origin x="105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C100C-3D7A-39B1-2B25-2DEF7FEA35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5398224-5DAD-2048-1329-FAC703A7F3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6ED35EC-55DA-6BD8-30EA-FC228313B5AF}"/>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5" name="Footer Placeholder 4">
            <a:extLst>
              <a:ext uri="{FF2B5EF4-FFF2-40B4-BE49-F238E27FC236}">
                <a16:creationId xmlns:a16="http://schemas.microsoft.com/office/drawing/2014/main" id="{7366558A-EEFA-A647-E879-9B9AE7CD42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1DC0AC-D740-BE84-C9E6-D1DDD1F5BB2D}"/>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1713242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182C-52E2-00B7-B775-3453542128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AF48F4-1648-0A4B-3126-0DA4A042F8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A3EAE4-A81F-C5AF-F32D-448C3114BE5B}"/>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5" name="Footer Placeholder 4">
            <a:extLst>
              <a:ext uri="{FF2B5EF4-FFF2-40B4-BE49-F238E27FC236}">
                <a16:creationId xmlns:a16="http://schemas.microsoft.com/office/drawing/2014/main" id="{BDFEC01F-EB12-05DE-D4F8-93C2D8A2C3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88BFA3-97B9-4812-BC25-C7E1A797D893}"/>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86659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1B20-9236-A2AD-DA84-FF99C4842F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3627B68-0DE1-3DCF-3396-AE129374F2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AF11BF-2A16-E5F6-C7E4-7811EBCF2964}"/>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5" name="Footer Placeholder 4">
            <a:extLst>
              <a:ext uri="{FF2B5EF4-FFF2-40B4-BE49-F238E27FC236}">
                <a16:creationId xmlns:a16="http://schemas.microsoft.com/office/drawing/2014/main" id="{C53ED4EB-47BC-99F3-2224-0A3CE1BD19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297764-A034-D567-994C-4A177DC77023}"/>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223820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190D9-FE94-440E-FD9C-89C1BC1EFF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DB5F8A-A1C0-B5E0-6745-F692EDF8AE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080745A-5C85-C2EA-982F-7184899EE7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C3FBA7-4DEB-8736-BDB2-6ECC709EFE2E}"/>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6" name="Footer Placeholder 5">
            <a:extLst>
              <a:ext uri="{FF2B5EF4-FFF2-40B4-BE49-F238E27FC236}">
                <a16:creationId xmlns:a16="http://schemas.microsoft.com/office/drawing/2014/main" id="{05A25D00-CAD3-B675-B140-FCD2972AB2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9B3575-7A7E-A1D2-7C02-036A52BBE448}"/>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3950963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94D13-FCE5-411A-D259-595C9D96465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57AC24-F15C-4A78-738C-077ED6DA77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5E2D65-A6B7-8900-A028-851345E119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5FF45C-0279-2D54-A356-A605AF42B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E5DB8E-9FFD-86B5-9DC1-0C24246A0A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2549132-E6AF-A2D6-76D9-833CD33A8973}"/>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8" name="Footer Placeholder 7">
            <a:extLst>
              <a:ext uri="{FF2B5EF4-FFF2-40B4-BE49-F238E27FC236}">
                <a16:creationId xmlns:a16="http://schemas.microsoft.com/office/drawing/2014/main" id="{7A84188A-C03A-ED76-A11F-AD35452902B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26DE41-1FC0-ACC8-81EC-F386E2E92620}"/>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2389241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3D478-20E8-8D97-5FE7-4A8EDA3357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C38F48-E633-EFD2-A132-1D4AF1E8DD2F}"/>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4" name="Footer Placeholder 3">
            <a:extLst>
              <a:ext uri="{FF2B5EF4-FFF2-40B4-BE49-F238E27FC236}">
                <a16:creationId xmlns:a16="http://schemas.microsoft.com/office/drawing/2014/main" id="{09221368-A19A-143B-7DCE-101B42383E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3C6104-6D8A-1949-DAA8-523377E97EE9}"/>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69159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6CFD72-C594-D7E8-B40D-AD5F5CD7A808}"/>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3" name="Footer Placeholder 2">
            <a:extLst>
              <a:ext uri="{FF2B5EF4-FFF2-40B4-BE49-F238E27FC236}">
                <a16:creationId xmlns:a16="http://schemas.microsoft.com/office/drawing/2014/main" id="{F43810E9-4AD6-302F-0DCC-A8CBB3D338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039CBD2-FB42-4F4E-F7AF-B2B2AA9C2BF4}"/>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3096121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D04F2-E787-C1A7-08A5-8EC03E7198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FF976E1-5C65-1416-DD6E-FC793D9088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C64F28-7CF3-9D03-CBA7-BCE4A7BDE2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C41192-27BF-54B9-C070-A91C61E7472D}"/>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6" name="Footer Placeholder 5">
            <a:extLst>
              <a:ext uri="{FF2B5EF4-FFF2-40B4-BE49-F238E27FC236}">
                <a16:creationId xmlns:a16="http://schemas.microsoft.com/office/drawing/2014/main" id="{AA229B76-2544-3618-2F9D-9DEF65EFAF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113DDC-C625-9033-603C-27971C3DA2ED}"/>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2153326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459F-96F6-F863-778A-10AFEEC099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43B5FB-C786-1090-6720-42F7CF2638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8870C0-CCDE-E8C4-9334-EA3B833D9A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03D846-3331-0BE4-3060-4767AC28FD7C}"/>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6" name="Footer Placeholder 5">
            <a:extLst>
              <a:ext uri="{FF2B5EF4-FFF2-40B4-BE49-F238E27FC236}">
                <a16:creationId xmlns:a16="http://schemas.microsoft.com/office/drawing/2014/main" id="{B308EBB5-F9CD-DF8B-92A9-518E3BA0F5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2E10C6-996E-20F1-820D-C0FCADBDB19F}"/>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4098099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84594-9461-C010-51AB-3551FA39E5D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B2C0D8-3981-6F07-C6F6-5A6686B033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B0DEDD-5D6C-256E-A3F1-DB164E19DEAB}"/>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5" name="Footer Placeholder 4">
            <a:extLst>
              <a:ext uri="{FF2B5EF4-FFF2-40B4-BE49-F238E27FC236}">
                <a16:creationId xmlns:a16="http://schemas.microsoft.com/office/drawing/2014/main" id="{48828610-EDB5-2828-2E66-69E56657A0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EDC695-5130-DE0E-1AE4-C3982CC0AA34}"/>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959435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8E267A-918A-59CE-485A-5EF5D764FC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45EB04-EAF6-9836-8D57-CD2BD8D46A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3A791-8ECD-8517-950B-5A5F9C912658}"/>
              </a:ext>
            </a:extLst>
          </p:cNvPr>
          <p:cNvSpPr>
            <a:spLocks noGrp="1"/>
          </p:cNvSpPr>
          <p:nvPr>
            <p:ph type="dt" sz="half" idx="10"/>
          </p:nvPr>
        </p:nvSpPr>
        <p:spPr/>
        <p:txBody>
          <a:bodyPr/>
          <a:lstStyle/>
          <a:p>
            <a:fld id="{0E4C543D-F02B-4404-BF11-1E56C7FD667D}" type="datetimeFigureOut">
              <a:rPr lang="en-IN" smtClean="0"/>
              <a:t>21-04-2026</a:t>
            </a:fld>
            <a:endParaRPr lang="en-IN"/>
          </a:p>
        </p:txBody>
      </p:sp>
      <p:sp>
        <p:nvSpPr>
          <p:cNvPr id="5" name="Footer Placeholder 4">
            <a:extLst>
              <a:ext uri="{FF2B5EF4-FFF2-40B4-BE49-F238E27FC236}">
                <a16:creationId xmlns:a16="http://schemas.microsoft.com/office/drawing/2014/main" id="{D936EAA2-4E73-2809-B36C-D43422BC51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42965B-3B59-471E-F2C2-FEABD4AA6E85}"/>
              </a:ext>
            </a:extLst>
          </p:cNvPr>
          <p:cNvSpPr>
            <a:spLocks noGrp="1"/>
          </p:cNvSpPr>
          <p:nvPr>
            <p:ph type="sldNum" sz="quarter" idx="12"/>
          </p:nvPr>
        </p:nvSpPr>
        <p:spPr/>
        <p:txBody>
          <a:bodyPr/>
          <a:lstStyle/>
          <a:p>
            <a:fld id="{7B9EA03B-E1AF-400A-892D-1E318E74D967}" type="slidenum">
              <a:rPr lang="en-IN" smtClean="0"/>
              <a:t>‹#›</a:t>
            </a:fld>
            <a:endParaRPr lang="en-IN"/>
          </a:p>
        </p:txBody>
      </p:sp>
    </p:spTree>
    <p:extLst>
      <p:ext uri="{BB962C8B-B14F-4D97-AF65-F5344CB8AC3E}">
        <p14:creationId xmlns:p14="http://schemas.microsoft.com/office/powerpoint/2010/main" val="4249856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4E9B73-EB6B-F275-D06B-E8968EC2B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3A148B-7B28-5D03-1584-0D376EC29F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B1DAFC-BAE5-40B0-1834-73CCCA9524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4C543D-F02B-4404-BF11-1E56C7FD667D}" type="datetimeFigureOut">
              <a:rPr lang="en-IN" smtClean="0"/>
              <a:t>21-04-2026</a:t>
            </a:fld>
            <a:endParaRPr lang="en-IN"/>
          </a:p>
        </p:txBody>
      </p:sp>
      <p:sp>
        <p:nvSpPr>
          <p:cNvPr id="5" name="Footer Placeholder 4">
            <a:extLst>
              <a:ext uri="{FF2B5EF4-FFF2-40B4-BE49-F238E27FC236}">
                <a16:creationId xmlns:a16="http://schemas.microsoft.com/office/drawing/2014/main" id="{BAC50FB9-6328-8BFD-C762-C4E48C8C15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F9D1632-9891-D7C0-2184-B30379255F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9EA03B-E1AF-400A-892D-1E318E74D967}" type="slidenum">
              <a:rPr lang="en-IN" smtClean="0"/>
              <a:t>‹#›</a:t>
            </a:fld>
            <a:endParaRPr lang="en-IN"/>
          </a:p>
        </p:txBody>
      </p:sp>
    </p:spTree>
    <p:extLst>
      <p:ext uri="{BB962C8B-B14F-4D97-AF65-F5344CB8AC3E}">
        <p14:creationId xmlns:p14="http://schemas.microsoft.com/office/powerpoint/2010/main" val="748950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2ED7AD85-09A5-298B-E876-CEA2F82BF39A}"/>
              </a:ext>
            </a:extLst>
          </p:cNvPr>
          <p:cNvSpPr/>
          <p:nvPr/>
        </p:nvSpPr>
        <p:spPr>
          <a:xfrm>
            <a:off x="545355" y="333980"/>
            <a:ext cx="11101290" cy="1131256"/>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dirty="0"/>
          </a:p>
        </p:txBody>
      </p:sp>
      <p:pic>
        <p:nvPicPr>
          <p:cNvPr id="7" name="Picture 6">
            <a:extLst>
              <a:ext uri="{FF2B5EF4-FFF2-40B4-BE49-F238E27FC236}">
                <a16:creationId xmlns:a16="http://schemas.microsoft.com/office/drawing/2014/main" id="{02162341-9D96-4B02-3068-09DFE8EE3D7F}"/>
              </a:ext>
            </a:extLst>
          </p:cNvPr>
          <p:cNvPicPr>
            <a:picLocks noChangeAspect="1"/>
          </p:cNvPicPr>
          <p:nvPr/>
        </p:nvPicPr>
        <p:blipFill>
          <a:blip r:embed="rId2"/>
          <a:stretch>
            <a:fillRect/>
          </a:stretch>
        </p:blipFill>
        <p:spPr>
          <a:xfrm>
            <a:off x="747394" y="418635"/>
            <a:ext cx="951120" cy="961945"/>
          </a:xfrm>
          <a:prstGeom prst="rect">
            <a:avLst/>
          </a:prstGeom>
        </p:spPr>
      </p:pic>
      <p:sp>
        <p:nvSpPr>
          <p:cNvPr id="8" name="TextBox 7">
            <a:extLst>
              <a:ext uri="{FF2B5EF4-FFF2-40B4-BE49-F238E27FC236}">
                <a16:creationId xmlns:a16="http://schemas.microsoft.com/office/drawing/2014/main" id="{EC586D8B-C474-6CF1-FA2C-93375CB9B5EF}"/>
              </a:ext>
            </a:extLst>
          </p:cNvPr>
          <p:cNvSpPr txBox="1"/>
          <p:nvPr/>
        </p:nvSpPr>
        <p:spPr>
          <a:xfrm>
            <a:off x="1698514" y="584136"/>
            <a:ext cx="10611473" cy="630942"/>
          </a:xfrm>
          <a:prstGeom prst="rect">
            <a:avLst/>
          </a:prstGeom>
          <a:noFill/>
        </p:spPr>
        <p:txBody>
          <a:bodyPr wrap="square" rtlCol="0">
            <a:spAutoFit/>
          </a:bodyPr>
          <a:lstStyle/>
          <a:p>
            <a:r>
              <a:rPr lang="en-IN" sz="3500" b="1" dirty="0">
                <a:latin typeface="Times New Roman" panose="02020603050405020304" pitchFamily="18" charset="0"/>
                <a:cs typeface="Times New Roman" panose="02020603050405020304" pitchFamily="18" charset="0"/>
              </a:rPr>
              <a:t>SIR CR REDDY COLLEGE OF ENGINEERING</a:t>
            </a:r>
          </a:p>
        </p:txBody>
      </p:sp>
      <p:sp>
        <p:nvSpPr>
          <p:cNvPr id="9" name="TextBox 8">
            <a:extLst>
              <a:ext uri="{FF2B5EF4-FFF2-40B4-BE49-F238E27FC236}">
                <a16:creationId xmlns:a16="http://schemas.microsoft.com/office/drawing/2014/main" id="{90FDA6FF-B345-65EC-88DF-65B4ED4C03D5}"/>
              </a:ext>
            </a:extLst>
          </p:cNvPr>
          <p:cNvSpPr txBox="1"/>
          <p:nvPr/>
        </p:nvSpPr>
        <p:spPr>
          <a:xfrm>
            <a:off x="960934" y="1993027"/>
            <a:ext cx="10270129" cy="1015663"/>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Title : </a:t>
            </a:r>
            <a:r>
              <a:rPr lang="en-US" sz="3000" dirty="0">
                <a:effectLst/>
                <a:latin typeface="Times New Roman" panose="02020603050405020304" pitchFamily="18" charset="0"/>
                <a:cs typeface="Times New Roman" panose="02020603050405020304" pitchFamily="18" charset="0"/>
              </a:rPr>
              <a:t>Energy Consumption Forecasting and Visualization for </a:t>
            </a:r>
          </a:p>
          <a:p>
            <a:r>
              <a:rPr lang="en-US" sz="3000" dirty="0">
                <a:effectLst/>
                <a:latin typeface="Times New Roman" panose="02020603050405020304" pitchFamily="18" charset="0"/>
                <a:cs typeface="Times New Roman" panose="02020603050405020304" pitchFamily="18" charset="0"/>
              </a:rPr>
              <a:t>           Smart Homes Using Data Analytics and Machine Learning</a:t>
            </a:r>
            <a:endParaRPr lang="en-IN" sz="3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C154620-960B-D418-ACD7-976C52A030D3}"/>
              </a:ext>
            </a:extLst>
          </p:cNvPr>
          <p:cNvSpPr txBox="1"/>
          <p:nvPr/>
        </p:nvSpPr>
        <p:spPr>
          <a:xfrm>
            <a:off x="781807" y="3429000"/>
            <a:ext cx="5574748"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Project Guide : </a:t>
            </a:r>
            <a:r>
              <a:rPr lang="en-IN" dirty="0">
                <a:latin typeface="Times New Roman" panose="02020603050405020304" pitchFamily="18" charset="0"/>
                <a:cs typeface="Times New Roman" panose="02020603050405020304" pitchFamily="18" charset="0"/>
              </a:rPr>
              <a:t>Dr. G. Nirmala , </a:t>
            </a:r>
            <a:r>
              <a:rPr lang="en-IN" dirty="0" err="1">
                <a:latin typeface="Times New Roman" panose="02020603050405020304" pitchFamily="18" charset="0"/>
                <a:cs typeface="Times New Roman" panose="02020603050405020304" pitchFamily="18" charset="0"/>
              </a:rPr>
              <a:t>M.Tech.Ph.D</a:t>
            </a:r>
            <a:r>
              <a:rPr lang="en-IN" dirty="0">
                <a:latin typeface="Times New Roman" panose="02020603050405020304" pitchFamily="18" charset="0"/>
                <a:cs typeface="Times New Roman" panose="02020603050405020304" pitchFamily="18" charset="0"/>
              </a:rPr>
              <a:t> Professor</a:t>
            </a:r>
          </a:p>
        </p:txBody>
      </p:sp>
      <p:sp>
        <p:nvSpPr>
          <p:cNvPr id="13" name="TextBox 12">
            <a:extLst>
              <a:ext uri="{FF2B5EF4-FFF2-40B4-BE49-F238E27FC236}">
                <a16:creationId xmlns:a16="http://schemas.microsoft.com/office/drawing/2014/main" id="{F288B1BD-8CB0-6DBB-75FD-69E435290645}"/>
              </a:ext>
            </a:extLst>
          </p:cNvPr>
          <p:cNvSpPr txBox="1"/>
          <p:nvPr/>
        </p:nvSpPr>
        <p:spPr>
          <a:xfrm>
            <a:off x="6903248" y="3429000"/>
            <a:ext cx="4815515" cy="1754326"/>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Presented by : </a:t>
            </a:r>
            <a:r>
              <a:rPr lang="en-IN" dirty="0">
                <a:latin typeface="Times New Roman" panose="02020603050405020304" pitchFamily="18" charset="0"/>
                <a:cs typeface="Times New Roman" panose="02020603050405020304" pitchFamily="18" charset="0"/>
              </a:rPr>
              <a:t>(Batch - 4)	</a:t>
            </a:r>
          </a:p>
          <a:p>
            <a:r>
              <a:rPr lang="en-IN" dirty="0">
                <a:latin typeface="Times New Roman" panose="02020603050405020304" pitchFamily="18" charset="0"/>
                <a:cs typeface="Times New Roman" panose="02020603050405020304" pitchFamily="18" charset="0"/>
              </a:rPr>
              <a:t>	        B. </a:t>
            </a:r>
            <a:r>
              <a:rPr lang="en-IN" dirty="0" err="1">
                <a:latin typeface="Times New Roman" panose="02020603050405020304" pitchFamily="18" charset="0"/>
                <a:cs typeface="Times New Roman" panose="02020603050405020304" pitchFamily="18" charset="0"/>
              </a:rPr>
              <a:t>Deenaja</a:t>
            </a:r>
            <a:r>
              <a:rPr lang="en-IN" dirty="0">
                <a:latin typeface="Times New Roman" panose="02020603050405020304" pitchFamily="18" charset="0"/>
                <a:cs typeface="Times New Roman" panose="02020603050405020304" pitchFamily="18" charset="0"/>
              </a:rPr>
              <a:t> – 22B81A0516</a:t>
            </a:r>
          </a:p>
          <a:p>
            <a:r>
              <a:rPr lang="en-IN" dirty="0">
                <a:latin typeface="Times New Roman" panose="02020603050405020304" pitchFamily="18" charset="0"/>
                <a:cs typeface="Times New Roman" panose="02020603050405020304" pitchFamily="18" charset="0"/>
              </a:rPr>
              <a:t>                        B. Trilok – 22B81A0517</a:t>
            </a:r>
          </a:p>
          <a:p>
            <a:r>
              <a:rPr lang="en-IN" dirty="0">
                <a:latin typeface="Times New Roman" panose="02020603050405020304" pitchFamily="18" charset="0"/>
                <a:cs typeface="Times New Roman" panose="02020603050405020304" pitchFamily="18" charset="0"/>
              </a:rPr>
              <a:t>	        B. Bala Bandhavi – 22B81A0518</a:t>
            </a:r>
          </a:p>
          <a:p>
            <a:r>
              <a:rPr lang="en-IN" dirty="0">
                <a:latin typeface="Times New Roman" panose="02020603050405020304" pitchFamily="18" charset="0"/>
                <a:cs typeface="Times New Roman" panose="02020603050405020304" pitchFamily="18" charset="0"/>
              </a:rPr>
              <a:t>	        B. Praveen  – 22B81A0519</a:t>
            </a:r>
          </a:p>
          <a:p>
            <a:r>
              <a:rPr lang="en-IN" dirty="0">
                <a:latin typeface="Times New Roman" panose="02020603050405020304" pitchFamily="18" charset="0"/>
                <a:cs typeface="Times New Roman" panose="02020603050405020304" pitchFamily="18" charset="0"/>
              </a:rPr>
              <a:t>	        B. Rama Jyothi – 22B81A0520</a:t>
            </a:r>
          </a:p>
        </p:txBody>
      </p:sp>
      <p:sp>
        <p:nvSpPr>
          <p:cNvPr id="2" name="TextBox 1">
            <a:extLst>
              <a:ext uri="{FF2B5EF4-FFF2-40B4-BE49-F238E27FC236}">
                <a16:creationId xmlns:a16="http://schemas.microsoft.com/office/drawing/2014/main" id="{56585BD1-7354-B3E7-5851-0C7AE324810E}"/>
              </a:ext>
            </a:extLst>
          </p:cNvPr>
          <p:cNvSpPr txBox="1"/>
          <p:nvPr/>
        </p:nvSpPr>
        <p:spPr>
          <a:xfrm>
            <a:off x="1320372" y="1503915"/>
            <a:ext cx="9551255" cy="400110"/>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DEPARTMENT OF COMPUTER SCIENCE AND ENGINEERING</a:t>
            </a:r>
            <a:endParaRPr lang="en-IN" sz="2000" b="1"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56FCCAFD-611F-9F95-F1D2-BCF1FE0B5856}"/>
              </a:ext>
            </a:extLst>
          </p:cNvPr>
          <p:cNvSpPr txBox="1"/>
          <p:nvPr/>
        </p:nvSpPr>
        <p:spPr>
          <a:xfrm>
            <a:off x="781806" y="3895476"/>
            <a:ext cx="5609161" cy="646331"/>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Project Co-ordinator : </a:t>
            </a:r>
            <a:r>
              <a:rPr lang="en-IN" dirty="0">
                <a:latin typeface="Times New Roman" panose="02020603050405020304" pitchFamily="18" charset="0"/>
                <a:cs typeface="Times New Roman" panose="02020603050405020304" pitchFamily="18" charset="0"/>
              </a:rPr>
              <a:t>Dr. B. Madhav Rao, Professor	    </a:t>
            </a:r>
          </a:p>
        </p:txBody>
      </p:sp>
      <p:sp>
        <p:nvSpPr>
          <p:cNvPr id="4" name="TextBox 3">
            <a:extLst>
              <a:ext uri="{FF2B5EF4-FFF2-40B4-BE49-F238E27FC236}">
                <a16:creationId xmlns:a16="http://schemas.microsoft.com/office/drawing/2014/main" id="{3FF5DB56-3391-1162-4F9B-5465F2C19F97}"/>
              </a:ext>
            </a:extLst>
          </p:cNvPr>
          <p:cNvSpPr txBox="1"/>
          <p:nvPr/>
        </p:nvSpPr>
        <p:spPr>
          <a:xfrm>
            <a:off x="781806" y="4306163"/>
            <a:ext cx="5609161"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HOD Dept. Of CSE : </a:t>
            </a:r>
            <a:r>
              <a:rPr lang="en-IN" dirty="0">
                <a:latin typeface="Times New Roman" panose="02020603050405020304" pitchFamily="18" charset="0"/>
                <a:cs typeface="Times New Roman" panose="02020603050405020304" pitchFamily="18" charset="0"/>
              </a:rPr>
              <a:t>Dr. A. Yesu Babu	    </a:t>
            </a:r>
          </a:p>
        </p:txBody>
      </p:sp>
    </p:spTree>
    <p:extLst>
      <p:ext uri="{BB962C8B-B14F-4D97-AF65-F5344CB8AC3E}">
        <p14:creationId xmlns:p14="http://schemas.microsoft.com/office/powerpoint/2010/main" val="3974871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11D0E0-7C4C-FF9E-19E5-A257A0829CCA}"/>
              </a:ext>
            </a:extLst>
          </p:cNvPr>
          <p:cNvSpPr txBox="1"/>
          <p:nvPr/>
        </p:nvSpPr>
        <p:spPr>
          <a:xfrm>
            <a:off x="0" y="316780"/>
            <a:ext cx="12191999" cy="630942"/>
          </a:xfrm>
          <a:prstGeom prst="rect">
            <a:avLst/>
          </a:prstGeom>
          <a:noFill/>
        </p:spPr>
        <p:txBody>
          <a:bodyPr wrap="square">
            <a:spAutoFit/>
          </a:bodyPr>
          <a:lstStyle/>
          <a:p>
            <a:pPr algn="ctr"/>
            <a:r>
              <a:rPr lang="en-IN" sz="3500" b="1" dirty="0">
                <a:latin typeface="Times New Roman" panose="02020603050405020304" pitchFamily="18" charset="0"/>
                <a:cs typeface="Times New Roman" panose="02020603050405020304" pitchFamily="18" charset="0"/>
              </a:rPr>
              <a:t>Table of Content</a:t>
            </a:r>
          </a:p>
        </p:txBody>
      </p:sp>
      <p:graphicFrame>
        <p:nvGraphicFramePr>
          <p:cNvPr id="3" name="Table 2">
            <a:extLst>
              <a:ext uri="{FF2B5EF4-FFF2-40B4-BE49-F238E27FC236}">
                <a16:creationId xmlns:a16="http://schemas.microsoft.com/office/drawing/2014/main" id="{185B6EEE-6FBD-F28F-D555-E0ADFE74ED74}"/>
              </a:ext>
            </a:extLst>
          </p:cNvPr>
          <p:cNvGraphicFramePr>
            <a:graphicFrameLocks noGrp="1"/>
          </p:cNvGraphicFramePr>
          <p:nvPr>
            <p:extLst>
              <p:ext uri="{D42A27DB-BD31-4B8C-83A1-F6EECF244321}">
                <p14:modId xmlns:p14="http://schemas.microsoft.com/office/powerpoint/2010/main" val="433148190"/>
              </p:ext>
            </p:extLst>
          </p:nvPr>
        </p:nvGraphicFramePr>
        <p:xfrm>
          <a:off x="2458065" y="1378426"/>
          <a:ext cx="3519948" cy="3294536"/>
        </p:xfrm>
        <a:graphic>
          <a:graphicData uri="http://schemas.openxmlformats.org/drawingml/2006/table">
            <a:tbl>
              <a:tblPr firstRow="1" bandRow="1">
                <a:tableStyleId>{5A111915-BE36-4E01-A7E5-04B1672EAD32}</a:tableStyleId>
              </a:tblPr>
              <a:tblGrid>
                <a:gridCol w="3519948">
                  <a:extLst>
                    <a:ext uri="{9D8B030D-6E8A-4147-A177-3AD203B41FA5}">
                      <a16:colId xmlns:a16="http://schemas.microsoft.com/office/drawing/2014/main" val="993153947"/>
                    </a:ext>
                  </a:extLst>
                </a:gridCol>
              </a:tblGrid>
              <a:tr h="650249">
                <a:tc>
                  <a:txBody>
                    <a:bodyPr/>
                    <a:lstStyle/>
                    <a:p>
                      <a:pPr algn="l"/>
                      <a:r>
                        <a:rPr lang="en-IN" b="0" dirty="0">
                          <a:solidFill>
                            <a:schemeClr val="tx1"/>
                          </a:solidFill>
                        </a:rPr>
                        <a:t>1.Abstract</a:t>
                      </a:r>
                    </a:p>
                  </a:txBody>
                  <a:tcPr>
                    <a:solidFill>
                      <a:schemeClr val="bg1"/>
                    </a:solidFill>
                  </a:tcPr>
                </a:tc>
                <a:extLst>
                  <a:ext uri="{0D108BD9-81ED-4DB2-BD59-A6C34878D82A}">
                    <a16:rowId xmlns:a16="http://schemas.microsoft.com/office/drawing/2014/main" val="3510774591"/>
                  </a:ext>
                </a:extLst>
              </a:tr>
              <a:tr h="693540">
                <a:tc>
                  <a:txBody>
                    <a:bodyPr/>
                    <a:lstStyle/>
                    <a:p>
                      <a:pPr algn="l"/>
                      <a:r>
                        <a:rPr lang="en-IN" dirty="0"/>
                        <a:t>2.Introduction</a:t>
                      </a:r>
                    </a:p>
                  </a:txBody>
                  <a:tcPr/>
                </a:tc>
                <a:extLst>
                  <a:ext uri="{0D108BD9-81ED-4DB2-BD59-A6C34878D82A}">
                    <a16:rowId xmlns:a16="http://schemas.microsoft.com/office/drawing/2014/main" val="1396940983"/>
                  </a:ext>
                </a:extLst>
              </a:tr>
              <a:tr h="650249">
                <a:tc>
                  <a:txBody>
                    <a:bodyPr/>
                    <a:lstStyle/>
                    <a:p>
                      <a:pPr algn="l"/>
                      <a:r>
                        <a:rPr lang="en-IN" dirty="0"/>
                        <a:t>3. Problem Statement</a:t>
                      </a:r>
                    </a:p>
                  </a:txBody>
                  <a:tcPr/>
                </a:tc>
                <a:extLst>
                  <a:ext uri="{0D108BD9-81ED-4DB2-BD59-A6C34878D82A}">
                    <a16:rowId xmlns:a16="http://schemas.microsoft.com/office/drawing/2014/main" val="669800615"/>
                  </a:ext>
                </a:extLst>
              </a:tr>
              <a:tr h="650249">
                <a:tc>
                  <a:txBody>
                    <a:bodyPr/>
                    <a:lstStyle/>
                    <a:p>
                      <a:pPr algn="l"/>
                      <a:r>
                        <a:rPr lang="en-IN" dirty="0"/>
                        <a:t>4. Existing System</a:t>
                      </a:r>
                    </a:p>
                  </a:txBody>
                  <a:tcPr/>
                </a:tc>
                <a:extLst>
                  <a:ext uri="{0D108BD9-81ED-4DB2-BD59-A6C34878D82A}">
                    <a16:rowId xmlns:a16="http://schemas.microsoft.com/office/drawing/2014/main" val="1926247780"/>
                  </a:ext>
                </a:extLst>
              </a:tr>
              <a:tr h="650249">
                <a:tc>
                  <a:txBody>
                    <a:bodyPr/>
                    <a:lstStyle/>
                    <a:p>
                      <a:pPr algn="l"/>
                      <a:r>
                        <a:rPr lang="en-IN" dirty="0"/>
                        <a:t>5.Proposed System</a:t>
                      </a:r>
                    </a:p>
                  </a:txBody>
                  <a:tcPr/>
                </a:tc>
                <a:extLst>
                  <a:ext uri="{0D108BD9-81ED-4DB2-BD59-A6C34878D82A}">
                    <a16:rowId xmlns:a16="http://schemas.microsoft.com/office/drawing/2014/main" val="2837564283"/>
                  </a:ext>
                </a:extLst>
              </a:tr>
            </a:tbl>
          </a:graphicData>
        </a:graphic>
      </p:graphicFrame>
      <p:graphicFrame>
        <p:nvGraphicFramePr>
          <p:cNvPr id="5" name="Table 4">
            <a:extLst>
              <a:ext uri="{FF2B5EF4-FFF2-40B4-BE49-F238E27FC236}">
                <a16:creationId xmlns:a16="http://schemas.microsoft.com/office/drawing/2014/main" id="{D6F7BAF8-B578-5FD5-BCE6-8D946659D548}"/>
              </a:ext>
            </a:extLst>
          </p:cNvPr>
          <p:cNvGraphicFramePr>
            <a:graphicFrameLocks noGrp="1"/>
          </p:cNvGraphicFramePr>
          <p:nvPr>
            <p:extLst>
              <p:ext uri="{D42A27DB-BD31-4B8C-83A1-F6EECF244321}">
                <p14:modId xmlns:p14="http://schemas.microsoft.com/office/powerpoint/2010/main" val="2105979027"/>
              </p:ext>
            </p:extLst>
          </p:nvPr>
        </p:nvGraphicFramePr>
        <p:xfrm>
          <a:off x="5978013" y="1378426"/>
          <a:ext cx="3519948" cy="3294536"/>
        </p:xfrm>
        <a:graphic>
          <a:graphicData uri="http://schemas.openxmlformats.org/drawingml/2006/table">
            <a:tbl>
              <a:tblPr firstRow="1" bandRow="1">
                <a:tableStyleId>{5A111915-BE36-4E01-A7E5-04B1672EAD32}</a:tableStyleId>
              </a:tblPr>
              <a:tblGrid>
                <a:gridCol w="3519948">
                  <a:extLst>
                    <a:ext uri="{9D8B030D-6E8A-4147-A177-3AD203B41FA5}">
                      <a16:colId xmlns:a16="http://schemas.microsoft.com/office/drawing/2014/main" val="993153947"/>
                    </a:ext>
                  </a:extLst>
                </a:gridCol>
              </a:tblGrid>
              <a:tr h="650249">
                <a:tc>
                  <a:txBody>
                    <a:bodyPr/>
                    <a:lstStyle/>
                    <a:p>
                      <a:r>
                        <a:rPr lang="en-IN" b="0" dirty="0">
                          <a:solidFill>
                            <a:schemeClr val="tx1"/>
                          </a:solidFill>
                        </a:rPr>
                        <a:t>6.Techonologies Used</a:t>
                      </a:r>
                    </a:p>
                  </a:txBody>
                  <a:tcPr>
                    <a:noFill/>
                  </a:tcPr>
                </a:tc>
                <a:extLst>
                  <a:ext uri="{0D108BD9-81ED-4DB2-BD59-A6C34878D82A}">
                    <a16:rowId xmlns:a16="http://schemas.microsoft.com/office/drawing/2014/main" val="3510774591"/>
                  </a:ext>
                </a:extLst>
              </a:tr>
              <a:tr h="693540">
                <a:tc>
                  <a:txBody>
                    <a:bodyPr/>
                    <a:lstStyle/>
                    <a:p>
                      <a:r>
                        <a:rPr lang="en-IN" dirty="0"/>
                        <a:t>7.Architecture</a:t>
                      </a:r>
                    </a:p>
                  </a:txBody>
                  <a:tcPr>
                    <a:noFill/>
                  </a:tcPr>
                </a:tc>
                <a:extLst>
                  <a:ext uri="{0D108BD9-81ED-4DB2-BD59-A6C34878D82A}">
                    <a16:rowId xmlns:a16="http://schemas.microsoft.com/office/drawing/2014/main" val="1396940983"/>
                  </a:ext>
                </a:extLst>
              </a:tr>
              <a:tr h="650249">
                <a:tc>
                  <a:txBody>
                    <a:bodyPr/>
                    <a:lstStyle/>
                    <a:p>
                      <a:r>
                        <a:rPr lang="en-IN" dirty="0"/>
                        <a:t>8.Result</a:t>
                      </a:r>
                    </a:p>
                  </a:txBody>
                  <a:tcPr>
                    <a:noFill/>
                  </a:tcPr>
                </a:tc>
                <a:extLst>
                  <a:ext uri="{0D108BD9-81ED-4DB2-BD59-A6C34878D82A}">
                    <a16:rowId xmlns:a16="http://schemas.microsoft.com/office/drawing/2014/main" val="669800615"/>
                  </a:ext>
                </a:extLst>
              </a:tr>
              <a:tr h="650249">
                <a:tc>
                  <a:txBody>
                    <a:bodyPr/>
                    <a:lstStyle/>
                    <a:p>
                      <a:r>
                        <a:rPr lang="en-IN" dirty="0"/>
                        <a:t>9.Conclusion</a:t>
                      </a:r>
                    </a:p>
                  </a:txBody>
                  <a:tcPr>
                    <a:noFill/>
                  </a:tcPr>
                </a:tc>
                <a:extLst>
                  <a:ext uri="{0D108BD9-81ED-4DB2-BD59-A6C34878D82A}">
                    <a16:rowId xmlns:a16="http://schemas.microsoft.com/office/drawing/2014/main" val="1926247780"/>
                  </a:ext>
                </a:extLst>
              </a:tr>
              <a:tr h="650249">
                <a:tc>
                  <a:txBody>
                    <a:bodyPr/>
                    <a:lstStyle/>
                    <a:p>
                      <a:r>
                        <a:rPr lang="en-IN" dirty="0"/>
                        <a:t>10.Future Scope</a:t>
                      </a:r>
                    </a:p>
                  </a:txBody>
                  <a:tcPr>
                    <a:noFill/>
                  </a:tcPr>
                </a:tc>
                <a:extLst>
                  <a:ext uri="{0D108BD9-81ED-4DB2-BD59-A6C34878D82A}">
                    <a16:rowId xmlns:a16="http://schemas.microsoft.com/office/drawing/2014/main" val="2837564283"/>
                  </a:ext>
                </a:extLst>
              </a:tr>
            </a:tbl>
          </a:graphicData>
        </a:graphic>
      </p:graphicFrame>
    </p:spTree>
    <p:extLst>
      <p:ext uri="{BB962C8B-B14F-4D97-AF65-F5344CB8AC3E}">
        <p14:creationId xmlns:p14="http://schemas.microsoft.com/office/powerpoint/2010/main" val="1063448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C5CE6-7139-F488-EF53-F2F1E56EDD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71BB9EA-F6C2-2EF8-7E3C-F96D03422CC4}"/>
              </a:ext>
            </a:extLst>
          </p:cNvPr>
          <p:cNvSpPr txBox="1"/>
          <p:nvPr/>
        </p:nvSpPr>
        <p:spPr>
          <a:xfrm>
            <a:off x="0" y="316780"/>
            <a:ext cx="12191999" cy="630942"/>
          </a:xfrm>
          <a:prstGeom prst="rect">
            <a:avLst/>
          </a:prstGeom>
          <a:noFill/>
        </p:spPr>
        <p:txBody>
          <a:bodyPr wrap="square">
            <a:spAutoFit/>
          </a:bodyPr>
          <a:lstStyle/>
          <a:p>
            <a:pPr algn="ctr"/>
            <a:r>
              <a:rPr lang="en-IN" sz="3500" b="1" dirty="0">
                <a:latin typeface="Times New Roman" panose="02020603050405020304" pitchFamily="18" charset="0"/>
                <a:cs typeface="Times New Roman" panose="02020603050405020304" pitchFamily="18" charset="0"/>
              </a:rPr>
              <a:t>Abstract</a:t>
            </a:r>
          </a:p>
        </p:txBody>
      </p:sp>
      <p:sp>
        <p:nvSpPr>
          <p:cNvPr id="6" name="TextBox 5">
            <a:extLst>
              <a:ext uri="{FF2B5EF4-FFF2-40B4-BE49-F238E27FC236}">
                <a16:creationId xmlns:a16="http://schemas.microsoft.com/office/drawing/2014/main" id="{D9B69A10-5905-5E08-1240-B6B6939A4999}"/>
              </a:ext>
            </a:extLst>
          </p:cNvPr>
          <p:cNvSpPr txBox="1"/>
          <p:nvPr/>
        </p:nvSpPr>
        <p:spPr>
          <a:xfrm>
            <a:off x="1366683" y="1672406"/>
            <a:ext cx="9704439" cy="3268652"/>
          </a:xfrm>
          <a:prstGeom prst="rect">
            <a:avLst/>
          </a:prstGeom>
          <a:noFill/>
        </p:spPr>
        <p:txBody>
          <a:bodyPr wrap="square">
            <a:spAutoFit/>
          </a:bodyPr>
          <a:lstStyle/>
          <a:p>
            <a:pPr>
              <a:lnSpc>
                <a:spcPct val="150000"/>
              </a:lnSpc>
              <a:defRPr sz="2000"/>
            </a:pPr>
            <a:r>
              <a:rPr lang="en-US" dirty="0">
                <a:latin typeface="Times New Roman" panose="02020603050405020304" pitchFamily="18" charset="0"/>
                <a:cs typeface="Times New Roman" panose="02020603050405020304" pitchFamily="18" charset="0"/>
              </a:rPr>
              <a:t>Energy Consumption Forecasting and Visualization for Smart Homes using Data Analytics and Machine Learning focuses on analyzing historical electricity consumption data to understand usage patterns and predict future demand. The system uses Random Forest and LSTM models, which are trained separately and compared for performance. LSTM provides better accuracy by capturing time-based patterns. The results support efficient energy planning in smart homes and smart grid systems.</a:t>
            </a:r>
          </a:p>
          <a:p>
            <a:pPr marL="342900" indent="-342900">
              <a:lnSpc>
                <a:spcPct val="150000"/>
              </a:lnSpc>
              <a:buFont typeface="Arial" panose="020B0604020202020204" pitchFamily="34" charset="0"/>
              <a:buChar char="•"/>
              <a:defRPr sz="2000"/>
            </a:pPr>
            <a:endParaRPr lang="en-US" dirty="0">
              <a:solidFill>
                <a:schemeClr val="bg2">
                  <a:lumMod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3623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FA3F33-6DF7-9A8B-928A-F072FC30DAA1}"/>
              </a:ext>
            </a:extLst>
          </p:cNvPr>
          <p:cNvSpPr txBox="1"/>
          <p:nvPr/>
        </p:nvSpPr>
        <p:spPr>
          <a:xfrm>
            <a:off x="0" y="316780"/>
            <a:ext cx="12191999" cy="646331"/>
          </a:xfrm>
          <a:prstGeom prst="rect">
            <a:avLst/>
          </a:prstGeom>
          <a:noFill/>
        </p:spPr>
        <p:txBody>
          <a:bodyPr wrap="square">
            <a:spAutoFit/>
          </a:bodyPr>
          <a:lstStyle/>
          <a:p>
            <a:pPr algn="ctr"/>
            <a:r>
              <a:rPr lang="en-IN" sz="35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ADB25ECE-EEDA-094B-5A3B-BD58BB7E2445}"/>
              </a:ext>
            </a:extLst>
          </p:cNvPr>
          <p:cNvSpPr txBox="1"/>
          <p:nvPr/>
        </p:nvSpPr>
        <p:spPr>
          <a:xfrm>
            <a:off x="1322438" y="1364513"/>
            <a:ext cx="9822426" cy="3274614"/>
          </a:xfrm>
          <a:prstGeom prst="rect">
            <a:avLst/>
          </a:prstGeom>
          <a:noFill/>
        </p:spPr>
        <p:txBody>
          <a:bodyPr wrap="square">
            <a:spAutoFit/>
          </a:bodyPr>
          <a:lstStyle/>
          <a:p>
            <a:pPr>
              <a:lnSpc>
                <a:spcPct val="150000"/>
              </a:lnSpc>
              <a:defRPr sz="2000"/>
            </a:pPr>
            <a:r>
              <a:rPr lang="en-US" dirty="0">
                <a:latin typeface="Times New Roman" panose="02020603050405020304" pitchFamily="18" charset="0"/>
                <a:cs typeface="Times New Roman" panose="02020603050405020304" pitchFamily="18" charset="0"/>
              </a:rPr>
              <a:t>Energy Consumption Forecasting and Visualization for Smart Homes using Data Analytics and Machine Learning focuses on addressing the increasing demand for efficient energy management. Electricity consumption patterns are complex and vary over time, making traditional methods less effective. By using machine learning and deep learning techniques, historical energy data can be analyzed to identify patterns and predict future consumption. This helps in improving energy planning and supports smarter decision-making in smart home and smart grid environments.</a:t>
            </a:r>
            <a:endParaRPr lang="en-US" dirty="0">
              <a:solidFill>
                <a:schemeClr val="tx1"/>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993799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243F22C-32C2-9E2D-1939-908203274CBB}"/>
              </a:ext>
            </a:extLst>
          </p:cNvPr>
          <p:cNvSpPr txBox="1"/>
          <p:nvPr/>
        </p:nvSpPr>
        <p:spPr>
          <a:xfrm>
            <a:off x="0" y="316780"/>
            <a:ext cx="12191999" cy="630942"/>
          </a:xfrm>
          <a:prstGeom prst="rect">
            <a:avLst/>
          </a:prstGeom>
          <a:noFill/>
        </p:spPr>
        <p:txBody>
          <a:bodyPr wrap="square">
            <a:spAutoFit/>
          </a:bodyPr>
          <a:lstStyle/>
          <a:p>
            <a:pPr algn="ctr"/>
            <a:r>
              <a:rPr lang="en-US" sz="3500" b="1" dirty="0">
                <a:latin typeface="Times New Roman" pitchFamily="18" charset="0"/>
                <a:cs typeface="Times New Roman" pitchFamily="18" charset="0"/>
              </a:rPr>
              <a:t>Problem Statement</a:t>
            </a:r>
            <a:endParaRPr lang="en-IN" sz="3500" b="1" dirty="0"/>
          </a:p>
        </p:txBody>
      </p:sp>
      <p:sp>
        <p:nvSpPr>
          <p:cNvPr id="3" name="TextBox 2">
            <a:extLst>
              <a:ext uri="{FF2B5EF4-FFF2-40B4-BE49-F238E27FC236}">
                <a16:creationId xmlns:a16="http://schemas.microsoft.com/office/drawing/2014/main" id="{3B28D418-3B0E-B2F8-02AB-A06CD3B4B45C}"/>
              </a:ext>
            </a:extLst>
          </p:cNvPr>
          <p:cNvSpPr txBox="1"/>
          <p:nvPr/>
        </p:nvSpPr>
        <p:spPr>
          <a:xfrm>
            <a:off x="1669024" y="1566452"/>
            <a:ext cx="8853950" cy="2345322"/>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Increasing electricity demand and dynamic usage patterns make accurate energy forecasting difficult. Traditional methods fail to capture complex and time-based variations, leading to inefficient energy planning and possible power shortages or wastage. Therefore, a data-driven approach is needed to improve prediction accuracy and support better energy management.</a:t>
            </a:r>
            <a:endParaRPr lang="en-IN" sz="2000" dirty="0">
              <a:solidFill>
                <a:schemeClr val="tx1"/>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503002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80B39B-7A4A-6222-A62A-881DF0DDF8AE}"/>
              </a:ext>
            </a:extLst>
          </p:cNvPr>
          <p:cNvSpPr txBox="1"/>
          <p:nvPr/>
        </p:nvSpPr>
        <p:spPr>
          <a:xfrm>
            <a:off x="0" y="316780"/>
            <a:ext cx="12191999" cy="630942"/>
          </a:xfrm>
          <a:prstGeom prst="rect">
            <a:avLst/>
          </a:prstGeom>
          <a:noFill/>
        </p:spPr>
        <p:txBody>
          <a:bodyPr wrap="square">
            <a:spAutoFit/>
          </a:bodyPr>
          <a:lstStyle/>
          <a:p>
            <a:pPr algn="ctr"/>
            <a:r>
              <a:rPr lang="en-IN" sz="3500" b="1" dirty="0">
                <a:latin typeface="Times New Roman" pitchFamily="18" charset="0"/>
                <a:cs typeface="Times New Roman" pitchFamily="18" charset="0"/>
              </a:rPr>
              <a:t>Existing System</a:t>
            </a:r>
            <a:endParaRPr lang="en-IN" sz="3500" b="1" dirty="0"/>
          </a:p>
        </p:txBody>
      </p:sp>
      <p:sp>
        <p:nvSpPr>
          <p:cNvPr id="3" name="TextBox 2">
            <a:extLst>
              <a:ext uri="{FF2B5EF4-FFF2-40B4-BE49-F238E27FC236}">
                <a16:creationId xmlns:a16="http://schemas.microsoft.com/office/drawing/2014/main" id="{6A193120-5BB0-C6E7-446E-74B3E8377C61}"/>
              </a:ext>
            </a:extLst>
          </p:cNvPr>
          <p:cNvSpPr txBox="1"/>
          <p:nvPr/>
        </p:nvSpPr>
        <p:spPr>
          <a:xfrm>
            <a:off x="1214283" y="1309857"/>
            <a:ext cx="9763432" cy="1446743"/>
          </a:xfrm>
          <a:prstGeom prst="rect">
            <a:avLst/>
          </a:prstGeom>
          <a:noFill/>
        </p:spPr>
        <p:txBody>
          <a:bodyPr wrap="square">
            <a:spAutoFit/>
          </a:bodyPr>
          <a:lstStyle/>
          <a:p>
            <a:pPr>
              <a:lnSpc>
                <a:spcPct val="170000"/>
              </a:lnSpc>
            </a:pPr>
            <a:r>
              <a:rPr lang="en-US" dirty="0">
                <a:latin typeface="Times New Roman" panose="02020603050405020304" pitchFamily="18" charset="0"/>
                <a:cs typeface="Times New Roman" panose="02020603050405020304" pitchFamily="18" charset="0"/>
              </a:rPr>
              <a:t>Existing systems use traditional statistical methods and basic machine learning models to predict electricity consumption. These methods can handle simple patterns but fail to capture complex and time-dependent variations in energy usage. As a result, their prediction accuracy is limited.</a:t>
            </a:r>
            <a:endParaRPr lang="en-US" sz="1800" dirty="0">
              <a:solidFill>
                <a:schemeClr val="tx1"/>
              </a:solidFill>
              <a:latin typeface="Times New Roman" panose="02020603050405020304" pitchFamily="18" charset="0"/>
              <a:cs typeface="Times New Roman" pitchFamily="18" charset="0"/>
            </a:endParaRPr>
          </a:p>
        </p:txBody>
      </p:sp>
      <p:graphicFrame>
        <p:nvGraphicFramePr>
          <p:cNvPr id="5" name="Table 4">
            <a:extLst>
              <a:ext uri="{FF2B5EF4-FFF2-40B4-BE49-F238E27FC236}">
                <a16:creationId xmlns:a16="http://schemas.microsoft.com/office/drawing/2014/main" id="{A4666B4E-6E0C-FC6C-155A-AE1E29372495}"/>
              </a:ext>
            </a:extLst>
          </p:cNvPr>
          <p:cNvGraphicFramePr>
            <a:graphicFrameLocks noGrp="1"/>
          </p:cNvGraphicFramePr>
          <p:nvPr>
            <p:extLst>
              <p:ext uri="{D42A27DB-BD31-4B8C-83A1-F6EECF244321}">
                <p14:modId xmlns:p14="http://schemas.microsoft.com/office/powerpoint/2010/main" val="2112735888"/>
              </p:ext>
            </p:extLst>
          </p:nvPr>
        </p:nvGraphicFramePr>
        <p:xfrm>
          <a:off x="2005780" y="3118736"/>
          <a:ext cx="8031318" cy="2092360"/>
        </p:xfrm>
        <a:graphic>
          <a:graphicData uri="http://schemas.openxmlformats.org/drawingml/2006/table">
            <a:tbl>
              <a:tblPr firstRow="1" bandRow="1">
                <a:tableStyleId>{073A0DAA-6AF3-43AB-8588-CEC1D06C72B9}</a:tableStyleId>
              </a:tblPr>
              <a:tblGrid>
                <a:gridCol w="4015659">
                  <a:extLst>
                    <a:ext uri="{9D8B030D-6E8A-4147-A177-3AD203B41FA5}">
                      <a16:colId xmlns:a16="http://schemas.microsoft.com/office/drawing/2014/main" val="1625000762"/>
                    </a:ext>
                  </a:extLst>
                </a:gridCol>
                <a:gridCol w="4015659">
                  <a:extLst>
                    <a:ext uri="{9D8B030D-6E8A-4147-A177-3AD203B41FA5}">
                      <a16:colId xmlns:a16="http://schemas.microsoft.com/office/drawing/2014/main" val="1765025577"/>
                    </a:ext>
                  </a:extLst>
                </a:gridCol>
              </a:tblGrid>
              <a:tr h="523090">
                <a:tc>
                  <a:txBody>
                    <a:bodyPr/>
                    <a:lstStyle/>
                    <a:p>
                      <a:pPr algn="ctr"/>
                      <a:r>
                        <a:rPr lang="en-US" sz="1800" b="1" dirty="0">
                          <a:solidFill>
                            <a:schemeClr val="bg1"/>
                          </a:solidFill>
                          <a:latin typeface="Times New Roman" pitchFamily="18" charset="0"/>
                          <a:cs typeface="Times New Roman" pitchFamily="18" charset="0"/>
                        </a:rPr>
                        <a:t>Advantages</a:t>
                      </a:r>
                      <a:endParaRPr lang="en-IN" dirty="0">
                        <a:solidFill>
                          <a:schemeClr val="bg1"/>
                        </a:solidFill>
                      </a:endParaRPr>
                    </a:p>
                  </a:txBody>
                  <a:tcPr/>
                </a:tc>
                <a:tc>
                  <a:txBody>
                    <a:bodyPr/>
                    <a:lstStyle/>
                    <a:p>
                      <a:pPr algn="ctr"/>
                      <a:r>
                        <a:rPr lang="en-US" sz="1800" b="1" dirty="0">
                          <a:solidFill>
                            <a:schemeClr val="bg1"/>
                          </a:solidFill>
                          <a:latin typeface="Times New Roman" pitchFamily="18" charset="0"/>
                          <a:cs typeface="Times New Roman" pitchFamily="18" charset="0"/>
                        </a:rPr>
                        <a:t>Disadvantages</a:t>
                      </a:r>
                      <a:endParaRPr lang="en-IN" dirty="0">
                        <a:solidFill>
                          <a:schemeClr val="bg1"/>
                        </a:solidFill>
                      </a:endParaRPr>
                    </a:p>
                  </a:txBody>
                  <a:tcPr/>
                </a:tc>
                <a:extLst>
                  <a:ext uri="{0D108BD9-81ED-4DB2-BD59-A6C34878D82A}">
                    <a16:rowId xmlns:a16="http://schemas.microsoft.com/office/drawing/2014/main" val="2072319647"/>
                  </a:ext>
                </a:extLst>
              </a:tr>
              <a:tr h="523090">
                <a:tc>
                  <a:txBody>
                    <a:bodyPr/>
                    <a:lstStyle/>
                    <a:p>
                      <a:r>
                        <a:rPr lang="en-US" sz="1800" dirty="0">
                          <a:solidFill>
                            <a:schemeClr val="tx1"/>
                          </a:solidFill>
                          <a:latin typeface="Times New Roman" pitchFamily="18" charset="0"/>
                          <a:cs typeface="Times New Roman" pitchFamily="18" charset="0"/>
                        </a:rPr>
                        <a:t>Simple system 	</a:t>
                      </a:r>
                      <a:endParaRPr lang="en-IN" dirty="0"/>
                    </a:p>
                  </a:txBody>
                  <a:tcPr/>
                </a:tc>
                <a:tc>
                  <a:txBody>
                    <a:bodyPr/>
                    <a:lstStyle/>
                    <a:p>
                      <a:r>
                        <a:rPr lang="en-US" sz="1800" dirty="0">
                          <a:solidFill>
                            <a:schemeClr val="tx1"/>
                          </a:solidFill>
                          <a:latin typeface="Times New Roman" pitchFamily="18" charset="0"/>
                          <a:cs typeface="Times New Roman" pitchFamily="18" charset="0"/>
                        </a:rPr>
                        <a:t>No energy forecasting </a:t>
                      </a:r>
                      <a:endParaRPr lang="en-IN" dirty="0"/>
                    </a:p>
                  </a:txBody>
                  <a:tcPr/>
                </a:tc>
                <a:extLst>
                  <a:ext uri="{0D108BD9-81ED-4DB2-BD59-A6C34878D82A}">
                    <a16:rowId xmlns:a16="http://schemas.microsoft.com/office/drawing/2014/main" val="3958788250"/>
                  </a:ext>
                </a:extLst>
              </a:tr>
              <a:tr h="523090">
                <a:tc>
                  <a:txBody>
                    <a:bodyPr/>
                    <a:lstStyle/>
                    <a:p>
                      <a:r>
                        <a:rPr lang="en-US" sz="1800" dirty="0">
                          <a:solidFill>
                            <a:schemeClr val="tx1"/>
                          </a:solidFill>
                          <a:latin typeface="Times New Roman" pitchFamily="18" charset="0"/>
                          <a:cs typeface="Times New Roman" pitchFamily="18" charset="0"/>
                        </a:rPr>
                        <a:t>Low cost	</a:t>
                      </a:r>
                      <a:endParaRPr lang="en-IN" dirty="0"/>
                    </a:p>
                  </a:txBody>
                  <a:tcPr/>
                </a:tc>
                <a:tc>
                  <a:txBody>
                    <a:bodyPr/>
                    <a:lstStyle/>
                    <a:p>
                      <a:r>
                        <a:rPr lang="en-US" sz="1800" dirty="0">
                          <a:solidFill>
                            <a:schemeClr val="tx1"/>
                          </a:solidFill>
                          <a:latin typeface="Times New Roman" pitchFamily="18" charset="0"/>
                          <a:cs typeface="Times New Roman" pitchFamily="18" charset="0"/>
                        </a:rPr>
                        <a:t>Manual data analysis</a:t>
                      </a:r>
                      <a:endParaRPr lang="en-IN" dirty="0"/>
                    </a:p>
                  </a:txBody>
                  <a:tcPr/>
                </a:tc>
                <a:extLst>
                  <a:ext uri="{0D108BD9-81ED-4DB2-BD59-A6C34878D82A}">
                    <a16:rowId xmlns:a16="http://schemas.microsoft.com/office/drawing/2014/main" val="3666839925"/>
                  </a:ext>
                </a:extLst>
              </a:tr>
              <a:tr h="523090">
                <a:tc>
                  <a:txBody>
                    <a:bodyPr/>
                    <a:lstStyle/>
                    <a:p>
                      <a:r>
                        <a:rPr lang="en-US" sz="1800" dirty="0">
                          <a:solidFill>
                            <a:schemeClr val="tx1"/>
                          </a:solidFill>
                          <a:latin typeface="Times New Roman" pitchFamily="18" charset="0"/>
                          <a:cs typeface="Times New Roman" pitchFamily="18" charset="0"/>
                        </a:rPr>
                        <a:t>Basic energy monitoring </a:t>
                      </a:r>
                      <a:endParaRPr lang="en-IN" dirty="0"/>
                    </a:p>
                  </a:txBody>
                  <a:tcPr/>
                </a:tc>
                <a:tc>
                  <a:txBody>
                    <a:bodyPr/>
                    <a:lstStyle/>
                    <a:p>
                      <a:r>
                        <a:rPr lang="en-US" sz="1800" dirty="0">
                          <a:solidFill>
                            <a:schemeClr val="tx1"/>
                          </a:solidFill>
                          <a:latin typeface="Times New Roman" pitchFamily="18" charset="0"/>
                          <a:cs typeface="Times New Roman" pitchFamily="18" charset="0"/>
                        </a:rPr>
                        <a:t>No interactive visualization</a:t>
                      </a:r>
                      <a:endParaRPr lang="en-IN" dirty="0"/>
                    </a:p>
                  </a:txBody>
                  <a:tcPr/>
                </a:tc>
                <a:extLst>
                  <a:ext uri="{0D108BD9-81ED-4DB2-BD59-A6C34878D82A}">
                    <a16:rowId xmlns:a16="http://schemas.microsoft.com/office/drawing/2014/main" val="285967375"/>
                  </a:ext>
                </a:extLst>
              </a:tr>
            </a:tbl>
          </a:graphicData>
        </a:graphic>
      </p:graphicFrame>
    </p:spTree>
    <p:extLst>
      <p:ext uri="{BB962C8B-B14F-4D97-AF65-F5344CB8AC3E}">
        <p14:creationId xmlns:p14="http://schemas.microsoft.com/office/powerpoint/2010/main" val="949448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05C8E6-0DDC-64CE-EDA4-F6C4CE3F7345}"/>
              </a:ext>
            </a:extLst>
          </p:cNvPr>
          <p:cNvSpPr txBox="1"/>
          <p:nvPr/>
        </p:nvSpPr>
        <p:spPr>
          <a:xfrm>
            <a:off x="0" y="316780"/>
            <a:ext cx="12191999" cy="630942"/>
          </a:xfrm>
          <a:prstGeom prst="rect">
            <a:avLst/>
          </a:prstGeom>
          <a:noFill/>
        </p:spPr>
        <p:txBody>
          <a:bodyPr wrap="square">
            <a:spAutoFit/>
          </a:bodyPr>
          <a:lstStyle/>
          <a:p>
            <a:pPr algn="ctr"/>
            <a:r>
              <a:rPr lang="en-IN" sz="3500" b="1" dirty="0">
                <a:latin typeface="Times New Roman" pitchFamily="18" charset="0"/>
                <a:cs typeface="Times New Roman" pitchFamily="18" charset="0"/>
              </a:rPr>
              <a:t>Proposed System</a:t>
            </a:r>
            <a:endParaRPr lang="en-IN" sz="3500" b="1" dirty="0"/>
          </a:p>
        </p:txBody>
      </p:sp>
      <p:sp>
        <p:nvSpPr>
          <p:cNvPr id="3" name="TextBox 2">
            <a:extLst>
              <a:ext uri="{FF2B5EF4-FFF2-40B4-BE49-F238E27FC236}">
                <a16:creationId xmlns:a16="http://schemas.microsoft.com/office/drawing/2014/main" id="{46DFF8F8-5191-156C-EF6F-B749DF391C1F}"/>
              </a:ext>
            </a:extLst>
          </p:cNvPr>
          <p:cNvSpPr txBox="1"/>
          <p:nvPr/>
        </p:nvSpPr>
        <p:spPr>
          <a:xfrm>
            <a:off x="1189703" y="1159292"/>
            <a:ext cx="9920749" cy="1889620"/>
          </a:xfrm>
          <a:prstGeom prst="rect">
            <a:avLst/>
          </a:prstGeom>
          <a:noFill/>
        </p:spPr>
        <p:txBody>
          <a:bodyPr wrap="square">
            <a:spAutoFit/>
          </a:bodyPr>
          <a:lstStyle/>
          <a:p>
            <a:pPr>
              <a:lnSpc>
                <a:spcPct val="150000"/>
              </a:lnSpc>
              <a:defRPr sz="2000"/>
            </a:pPr>
            <a:r>
              <a:rPr lang="en-US" dirty="0">
                <a:latin typeface="Times New Roman" panose="02020603050405020304" pitchFamily="18" charset="0"/>
                <a:cs typeface="Times New Roman" panose="02020603050405020304" pitchFamily="18" charset="0"/>
              </a:rPr>
              <a:t>The proposed system uses a combination of Random Forest and LSTM models to forecast electricity consumption. It analyzes historical data, captures both nonlinear and time-based patterns, and provides more accurate predictions. This approach improves energy planning and supports efficient management in smart systems.</a:t>
            </a:r>
            <a:endParaRPr lang="en-US" sz="1800" dirty="0">
              <a:solidFill>
                <a:schemeClr val="tx1"/>
              </a:solidFill>
              <a:latin typeface="Times New Roman" panose="02020603050405020304" pitchFamily="18" charset="0"/>
              <a:cs typeface="Times New Roman" pitchFamily="18" charset="0"/>
            </a:endParaRPr>
          </a:p>
        </p:txBody>
      </p:sp>
      <p:graphicFrame>
        <p:nvGraphicFramePr>
          <p:cNvPr id="6" name="Table 5">
            <a:extLst>
              <a:ext uri="{FF2B5EF4-FFF2-40B4-BE49-F238E27FC236}">
                <a16:creationId xmlns:a16="http://schemas.microsoft.com/office/drawing/2014/main" id="{02BF853E-4F3D-D21F-CF37-36812F3ADA02}"/>
              </a:ext>
            </a:extLst>
          </p:cNvPr>
          <p:cNvGraphicFramePr>
            <a:graphicFrameLocks noGrp="1"/>
          </p:cNvGraphicFramePr>
          <p:nvPr>
            <p:extLst>
              <p:ext uri="{D42A27DB-BD31-4B8C-83A1-F6EECF244321}">
                <p14:modId xmlns:p14="http://schemas.microsoft.com/office/powerpoint/2010/main" val="3324432203"/>
              </p:ext>
            </p:extLst>
          </p:nvPr>
        </p:nvGraphicFramePr>
        <p:xfrm>
          <a:off x="1909096" y="3260483"/>
          <a:ext cx="8128000" cy="2306411"/>
        </p:xfrm>
        <a:graphic>
          <a:graphicData uri="http://schemas.openxmlformats.org/drawingml/2006/table">
            <a:tbl>
              <a:tblPr firstRow="1" bandRow="1">
                <a:tableStyleId>{073A0DAA-6AF3-43AB-8588-CEC1D06C72B9}</a:tableStyleId>
              </a:tblPr>
              <a:tblGrid>
                <a:gridCol w="4064000">
                  <a:extLst>
                    <a:ext uri="{9D8B030D-6E8A-4147-A177-3AD203B41FA5}">
                      <a16:colId xmlns:a16="http://schemas.microsoft.com/office/drawing/2014/main" val="669053923"/>
                    </a:ext>
                  </a:extLst>
                </a:gridCol>
                <a:gridCol w="4064000">
                  <a:extLst>
                    <a:ext uri="{9D8B030D-6E8A-4147-A177-3AD203B41FA5}">
                      <a16:colId xmlns:a16="http://schemas.microsoft.com/office/drawing/2014/main" val="42504725"/>
                    </a:ext>
                  </a:extLst>
                </a:gridCol>
              </a:tblGrid>
              <a:tr h="480429">
                <a:tc>
                  <a:txBody>
                    <a:bodyPr/>
                    <a:lstStyle/>
                    <a:p>
                      <a:pPr algn="ctr"/>
                      <a:r>
                        <a:rPr lang="en-US" sz="1800" b="1" dirty="0">
                          <a:solidFill>
                            <a:schemeClr val="bg1"/>
                          </a:solidFill>
                          <a:latin typeface="Times New Roman" pitchFamily="18" charset="0"/>
                          <a:cs typeface="Times New Roman" pitchFamily="18" charset="0"/>
                        </a:rPr>
                        <a:t>Feature</a:t>
                      </a:r>
                      <a:endParaRPr lang="en-IN" dirty="0">
                        <a:solidFill>
                          <a:schemeClr val="bg1"/>
                        </a:solidFill>
                      </a:endParaRPr>
                    </a:p>
                  </a:txBody>
                  <a:tcPr/>
                </a:tc>
                <a:tc>
                  <a:txBody>
                    <a:bodyPr/>
                    <a:lstStyle/>
                    <a:p>
                      <a:pPr algn="ctr"/>
                      <a:r>
                        <a:rPr lang="en-US" sz="1800" b="1" dirty="0">
                          <a:latin typeface="Times New Roman" pitchFamily="18" charset="0"/>
                          <a:cs typeface="Times New Roman" pitchFamily="18" charset="0"/>
                        </a:rPr>
                        <a:t>Benefits</a:t>
                      </a:r>
                      <a:endParaRPr lang="en-IN" dirty="0"/>
                    </a:p>
                  </a:txBody>
                  <a:tcPr/>
                </a:tc>
                <a:extLst>
                  <a:ext uri="{0D108BD9-81ED-4DB2-BD59-A6C34878D82A}">
                    <a16:rowId xmlns:a16="http://schemas.microsoft.com/office/drawing/2014/main" val="3631004479"/>
                  </a:ext>
                </a:extLst>
              </a:tr>
              <a:tr h="480429">
                <a:tc>
                  <a:txBody>
                    <a:bodyPr/>
                    <a:lstStyle/>
                    <a:p>
                      <a:r>
                        <a:rPr lang="en-US" sz="1800" dirty="0">
                          <a:solidFill>
                            <a:schemeClr val="tx1"/>
                          </a:solidFill>
                          <a:latin typeface="Times New Roman" pitchFamily="18" charset="0"/>
                          <a:cs typeface="Times New Roman" pitchFamily="18" charset="0"/>
                        </a:rPr>
                        <a:t>Automated data preprocessing.</a:t>
                      </a:r>
                      <a:endParaRPr lang="en-IN"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cs typeface="Times New Roman" pitchFamily="18" charset="0"/>
                        </a:rPr>
                        <a:t> Improved forecasting accuracy.</a:t>
                      </a:r>
                    </a:p>
                  </a:txBody>
                  <a:tcPr/>
                </a:tc>
                <a:extLst>
                  <a:ext uri="{0D108BD9-81ED-4DB2-BD59-A6C34878D82A}">
                    <a16:rowId xmlns:a16="http://schemas.microsoft.com/office/drawing/2014/main" val="4132306545"/>
                  </a:ext>
                </a:extLst>
              </a:tr>
              <a:tr h="480429">
                <a:tc>
                  <a:txBody>
                    <a:bodyPr/>
                    <a:lstStyle/>
                    <a:p>
                      <a:r>
                        <a:rPr lang="en-US" sz="1800" dirty="0">
                          <a:solidFill>
                            <a:schemeClr val="tx1"/>
                          </a:solidFill>
                          <a:latin typeface="Times New Roman" pitchFamily="18" charset="0"/>
                          <a:cs typeface="Times New Roman" pitchFamily="18" charset="0"/>
                        </a:rPr>
                        <a:t>Accurate ML-based forecasting.</a:t>
                      </a:r>
                      <a:endParaRPr lang="en-IN" dirty="0"/>
                    </a:p>
                  </a:txBody>
                  <a:tcPr/>
                </a:tc>
                <a:tc>
                  <a:txBody>
                    <a:bodyPr/>
                    <a:lstStyle/>
                    <a:p>
                      <a:r>
                        <a:rPr lang="en-US" sz="1800" dirty="0">
                          <a:latin typeface="Times New Roman" pitchFamily="18" charset="0"/>
                          <a:cs typeface="Times New Roman" pitchFamily="18" charset="0"/>
                        </a:rPr>
                        <a:t>Reduced energy wastage.</a:t>
                      </a:r>
                      <a:endParaRPr lang="en-IN" dirty="0"/>
                    </a:p>
                  </a:txBody>
                  <a:tcPr/>
                </a:tc>
                <a:extLst>
                  <a:ext uri="{0D108BD9-81ED-4DB2-BD59-A6C34878D82A}">
                    <a16:rowId xmlns:a16="http://schemas.microsoft.com/office/drawing/2014/main" val="2416781128"/>
                  </a:ext>
                </a:extLst>
              </a:tr>
              <a:tr h="480429">
                <a:tc>
                  <a:txBody>
                    <a:bodyPr/>
                    <a:lstStyle/>
                    <a:p>
                      <a:r>
                        <a:rPr lang="en-US" sz="1800" dirty="0">
                          <a:solidFill>
                            <a:schemeClr val="tx1"/>
                          </a:solidFill>
                          <a:latin typeface="Times New Roman" pitchFamily="18" charset="0"/>
                          <a:cs typeface="Times New Roman" pitchFamily="18" charset="0"/>
                        </a:rPr>
                        <a:t>Clear visualization.</a:t>
                      </a:r>
                      <a:endParaRPr lang="en-IN" dirty="0"/>
                    </a:p>
                  </a:txBody>
                  <a:tcPr/>
                </a:tc>
                <a:tc>
                  <a:txBody>
                    <a:bodyPr/>
                    <a:lstStyle/>
                    <a:p>
                      <a:pPr>
                        <a:lnSpc>
                          <a:spcPct val="150000"/>
                        </a:lnSpc>
                      </a:pPr>
                      <a:r>
                        <a:rPr lang="en-US" sz="1800" dirty="0">
                          <a:latin typeface="Times New Roman" pitchFamily="18" charset="0"/>
                          <a:cs typeface="Times New Roman" pitchFamily="18" charset="0"/>
                        </a:rPr>
                        <a:t>Enhanced decision-making for smart home users.</a:t>
                      </a:r>
                    </a:p>
                  </a:txBody>
                  <a:tcPr/>
                </a:tc>
                <a:extLst>
                  <a:ext uri="{0D108BD9-81ED-4DB2-BD59-A6C34878D82A}">
                    <a16:rowId xmlns:a16="http://schemas.microsoft.com/office/drawing/2014/main" val="1136093630"/>
                  </a:ext>
                </a:extLst>
              </a:tr>
            </a:tbl>
          </a:graphicData>
        </a:graphic>
      </p:graphicFrame>
    </p:spTree>
    <p:extLst>
      <p:ext uri="{BB962C8B-B14F-4D97-AF65-F5344CB8AC3E}">
        <p14:creationId xmlns:p14="http://schemas.microsoft.com/office/powerpoint/2010/main" val="307632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61DAC-44EA-B0C5-A7E0-DC2C0CF536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178D9DA-4892-7384-E2E1-7FAEDB5F3380}"/>
              </a:ext>
            </a:extLst>
          </p:cNvPr>
          <p:cNvSpPr txBox="1"/>
          <p:nvPr/>
        </p:nvSpPr>
        <p:spPr>
          <a:xfrm>
            <a:off x="0" y="316780"/>
            <a:ext cx="12191999" cy="630942"/>
          </a:xfrm>
          <a:prstGeom prst="rect">
            <a:avLst/>
          </a:prstGeom>
          <a:noFill/>
        </p:spPr>
        <p:txBody>
          <a:bodyPr wrap="square">
            <a:spAutoFit/>
          </a:bodyPr>
          <a:lstStyle/>
          <a:p>
            <a:pPr algn="ctr"/>
            <a:r>
              <a:rPr lang="en-IN" sz="3500" b="1" dirty="0">
                <a:latin typeface="Times New Roman" pitchFamily="18" charset="0"/>
                <a:cs typeface="Times New Roman" pitchFamily="18" charset="0"/>
              </a:rPr>
              <a:t>Technologies Used</a:t>
            </a:r>
            <a:endParaRPr lang="en-IN" sz="3500" b="1" dirty="0"/>
          </a:p>
        </p:txBody>
      </p:sp>
      <p:pic>
        <p:nvPicPr>
          <p:cNvPr id="2" name="Picture 1">
            <a:extLst>
              <a:ext uri="{FF2B5EF4-FFF2-40B4-BE49-F238E27FC236}">
                <a16:creationId xmlns:a16="http://schemas.microsoft.com/office/drawing/2014/main" id="{8DEA5284-C267-6A4D-CE10-89C54B7485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40065" y="1310240"/>
            <a:ext cx="5123831" cy="4237520"/>
          </a:xfrm>
          <a:prstGeom prst="rect">
            <a:avLst/>
          </a:prstGeom>
        </p:spPr>
      </p:pic>
    </p:spTree>
    <p:extLst>
      <p:ext uri="{BB962C8B-B14F-4D97-AF65-F5344CB8AC3E}">
        <p14:creationId xmlns:p14="http://schemas.microsoft.com/office/powerpoint/2010/main" val="3389378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82702FDB-61CC-88C2-BCBF-802D7FF20506}"/>
              </a:ext>
            </a:extLst>
          </p:cNvPr>
          <p:cNvSpPr>
            <a:spLocks noGrp="1"/>
          </p:cNvSpPr>
          <p:nvPr>
            <p:ph type="title"/>
          </p:nvPr>
        </p:nvSpPr>
        <p:spPr>
          <a:xfrm>
            <a:off x="609600" y="274638"/>
            <a:ext cx="10972800" cy="698756"/>
          </a:xfrm>
        </p:spPr>
        <p:txBody>
          <a:bodyPr>
            <a:normAutofit/>
          </a:bodyPr>
          <a:lstStyle/>
          <a:p>
            <a:pPr algn="ctr"/>
            <a:r>
              <a:rPr lang="en-US" sz="3500" b="1" dirty="0">
                <a:latin typeface="Times New Roman" pitchFamily="18" charset="0"/>
                <a:cs typeface="Times New Roman" pitchFamily="18" charset="0"/>
              </a:rPr>
              <a:t>System Architecture</a:t>
            </a:r>
            <a:endParaRPr lang="en-IN" sz="3500" b="1" dirty="0">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F75A14AC-8DF9-B6FC-0C69-3536DCD0102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87794" y="1133380"/>
            <a:ext cx="8927690" cy="5021614"/>
          </a:xfrm>
          <a:prstGeom prst="rect">
            <a:avLst/>
          </a:prstGeom>
        </p:spPr>
      </p:pic>
    </p:spTree>
    <p:extLst>
      <p:ext uri="{BB962C8B-B14F-4D97-AF65-F5344CB8AC3E}">
        <p14:creationId xmlns:p14="http://schemas.microsoft.com/office/powerpoint/2010/main" val="1078152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63453F-19F8-0E42-1573-B8DB2602AFAE}"/>
              </a:ext>
            </a:extLst>
          </p:cNvPr>
          <p:cNvSpPr>
            <a:spLocks noGrp="1"/>
          </p:cNvSpPr>
          <p:nvPr>
            <p:ph type="title"/>
          </p:nvPr>
        </p:nvSpPr>
        <p:spPr>
          <a:xfrm>
            <a:off x="609600" y="274638"/>
            <a:ext cx="10972800" cy="1143000"/>
          </a:xfrm>
        </p:spPr>
        <p:txBody>
          <a:bodyPr>
            <a:normAutofit/>
          </a:bodyPr>
          <a:lstStyle/>
          <a:p>
            <a:pPr algn="ctr"/>
            <a:r>
              <a:rPr lang="en-US" sz="3500" b="1" dirty="0">
                <a:latin typeface="Times New Roman" pitchFamily="18" charset="0"/>
                <a:cs typeface="Times New Roman" pitchFamily="18" charset="0"/>
              </a:rPr>
              <a:t>System Design (</a:t>
            </a:r>
            <a:r>
              <a:rPr sz="3500" b="1" dirty="0">
                <a:latin typeface="Times New Roman" pitchFamily="18" charset="0"/>
                <a:cs typeface="Times New Roman" pitchFamily="18" charset="0"/>
              </a:rPr>
              <a:t>Algorithms</a:t>
            </a:r>
            <a:r>
              <a:rPr lang="en-US" sz="3500" b="1" dirty="0">
                <a:latin typeface="Times New Roman" pitchFamily="18" charset="0"/>
                <a:cs typeface="Times New Roman" pitchFamily="18" charset="0"/>
              </a:rPr>
              <a:t>)</a:t>
            </a:r>
            <a:endParaRPr sz="3500" b="1" dirty="0">
              <a:latin typeface="Times New Roman" pitchFamily="18" charset="0"/>
              <a:cs typeface="Times New Roman" pitchFamily="18" charset="0"/>
            </a:endParaRPr>
          </a:p>
        </p:txBody>
      </p:sp>
      <p:sp>
        <p:nvSpPr>
          <p:cNvPr id="5" name="Content Placeholder 2">
            <a:extLst>
              <a:ext uri="{FF2B5EF4-FFF2-40B4-BE49-F238E27FC236}">
                <a16:creationId xmlns:a16="http://schemas.microsoft.com/office/drawing/2014/main" id="{4D9F77CD-0E5E-603A-B068-EF0482E541CC}"/>
              </a:ext>
            </a:extLst>
          </p:cNvPr>
          <p:cNvSpPr>
            <a:spLocks noGrp="1"/>
          </p:cNvSpPr>
          <p:nvPr>
            <p:ph idx="1"/>
          </p:nvPr>
        </p:nvSpPr>
        <p:spPr>
          <a:xfrm>
            <a:off x="1474840" y="1417638"/>
            <a:ext cx="9340645" cy="4525963"/>
          </a:xfrm>
        </p:spPr>
        <p:txBody>
          <a:bodyPr>
            <a:normAutofit fontScale="92500" lnSpcReduction="10000"/>
          </a:bodyPr>
          <a:lstStyle/>
          <a:p>
            <a:pPr>
              <a:lnSpc>
                <a:spcPct val="150000"/>
              </a:lnSpc>
            </a:pPr>
            <a:r>
              <a:rPr lang="en-US" sz="2000" b="1" dirty="0">
                <a:latin typeface="Times New Roman" panose="02020603050405020304" pitchFamily="18" charset="0"/>
                <a:cs typeface="Times New Roman" panose="02020603050405020304" pitchFamily="18" charset="0"/>
              </a:rPr>
              <a:t>Data Collection - </a:t>
            </a:r>
            <a:r>
              <a:rPr lang="en-US" sz="2000" dirty="0">
                <a:latin typeface="Times New Roman" panose="02020603050405020304" pitchFamily="18" charset="0"/>
                <a:cs typeface="Times New Roman" panose="02020603050405020304" pitchFamily="18" charset="0"/>
              </a:rPr>
              <a:t>Collect historical electricity consumption data from a reliable source.</a:t>
            </a:r>
          </a:p>
          <a:p>
            <a:pPr>
              <a:lnSpc>
                <a:spcPct val="150000"/>
              </a:lnSpc>
            </a:pPr>
            <a:r>
              <a:rPr lang="en-US" sz="2000" b="1" dirty="0">
                <a:latin typeface="Times New Roman" panose="02020603050405020304" pitchFamily="18" charset="0"/>
                <a:cs typeface="Times New Roman" panose="02020603050405020304" pitchFamily="18" charset="0"/>
              </a:rPr>
              <a:t>Data Preprocessing - </a:t>
            </a:r>
            <a:r>
              <a:rPr lang="en-US" sz="2000" dirty="0">
                <a:latin typeface="Times New Roman" panose="02020603050405020304" pitchFamily="18" charset="0"/>
                <a:cs typeface="Times New Roman" panose="02020603050405020304" pitchFamily="18" charset="0"/>
              </a:rPr>
              <a:t>Clean the data, handle missing values, and convert timestamps into proper format.</a:t>
            </a:r>
          </a:p>
          <a:p>
            <a:pPr>
              <a:lnSpc>
                <a:spcPct val="150000"/>
              </a:lnSpc>
            </a:pPr>
            <a:r>
              <a:rPr lang="en-US" sz="2000" b="1" dirty="0">
                <a:latin typeface="Times New Roman" panose="02020603050405020304" pitchFamily="18" charset="0"/>
                <a:cs typeface="Times New Roman" panose="02020603050405020304" pitchFamily="18" charset="0"/>
              </a:rPr>
              <a:t>Feature Engineering - </a:t>
            </a:r>
            <a:r>
              <a:rPr lang="en-US" sz="2000" dirty="0">
                <a:latin typeface="Times New Roman" panose="02020603050405020304" pitchFamily="18" charset="0"/>
                <a:cs typeface="Times New Roman" panose="02020603050405020304" pitchFamily="18" charset="0"/>
              </a:rPr>
              <a:t>Extract time-based features (day, month, weekday) and create lag features.</a:t>
            </a:r>
          </a:p>
          <a:p>
            <a:pPr>
              <a:lnSpc>
                <a:spcPct val="150000"/>
              </a:lnSpc>
            </a:pPr>
            <a:r>
              <a:rPr lang="en-US" sz="2000" b="1" dirty="0">
                <a:latin typeface="Times New Roman" panose="02020603050405020304" pitchFamily="18" charset="0"/>
                <a:cs typeface="Times New Roman" panose="02020603050405020304" pitchFamily="18" charset="0"/>
              </a:rPr>
              <a:t>Data Splitting - </a:t>
            </a:r>
            <a:r>
              <a:rPr lang="en-US" sz="2000" dirty="0">
                <a:latin typeface="Times New Roman" panose="02020603050405020304" pitchFamily="18" charset="0"/>
                <a:cs typeface="Times New Roman" panose="02020603050405020304" pitchFamily="18" charset="0"/>
              </a:rPr>
              <a:t>Divide the dataset into training and testing sets.</a:t>
            </a:r>
          </a:p>
          <a:p>
            <a:pPr>
              <a:lnSpc>
                <a:spcPct val="150000"/>
              </a:lnSpc>
            </a:pPr>
            <a:r>
              <a:rPr lang="en-US" sz="2000" b="1" dirty="0">
                <a:latin typeface="Times New Roman" panose="02020603050405020304" pitchFamily="18" charset="0"/>
                <a:cs typeface="Times New Roman" panose="02020603050405020304" pitchFamily="18" charset="0"/>
              </a:rPr>
              <a:t>Model Training - </a:t>
            </a:r>
            <a:r>
              <a:rPr lang="en-US" sz="2000" dirty="0">
                <a:latin typeface="Times New Roman" panose="02020603050405020304" pitchFamily="18" charset="0"/>
                <a:cs typeface="Times New Roman" panose="02020603050405020304" pitchFamily="18" charset="0"/>
              </a:rPr>
              <a:t>Train Random Forest and LSTM models using the training data.</a:t>
            </a:r>
          </a:p>
          <a:p>
            <a:pPr>
              <a:lnSpc>
                <a:spcPct val="150000"/>
              </a:lnSpc>
            </a:pPr>
            <a:r>
              <a:rPr lang="en-US" sz="2000" b="1" dirty="0">
                <a:latin typeface="Times New Roman" panose="02020603050405020304" pitchFamily="18" charset="0"/>
                <a:cs typeface="Times New Roman" panose="02020603050405020304" pitchFamily="18" charset="0"/>
              </a:rPr>
              <a:t>Prediction - </a:t>
            </a:r>
            <a:r>
              <a:rPr lang="en-US" sz="2000" dirty="0">
                <a:latin typeface="Times New Roman" panose="02020603050405020304" pitchFamily="18" charset="0"/>
                <a:cs typeface="Times New Roman" panose="02020603050405020304" pitchFamily="18" charset="0"/>
              </a:rPr>
              <a:t>Generate future electricity consumption predictions using trained models.</a:t>
            </a:r>
          </a:p>
          <a:p>
            <a:pPr>
              <a:lnSpc>
                <a:spcPct val="150000"/>
              </a:lnSpc>
            </a:pPr>
            <a:r>
              <a:rPr lang="en-US" sz="2000" b="1" dirty="0">
                <a:latin typeface="Times New Roman" panose="02020603050405020304" pitchFamily="18" charset="0"/>
                <a:cs typeface="Times New Roman" panose="02020603050405020304" pitchFamily="18" charset="0"/>
              </a:rPr>
              <a:t>Evaluation - </a:t>
            </a:r>
            <a:r>
              <a:rPr lang="en-US" sz="2000" dirty="0">
                <a:latin typeface="Times New Roman" panose="02020603050405020304" pitchFamily="18" charset="0"/>
                <a:cs typeface="Times New Roman" panose="02020603050405020304" pitchFamily="18" charset="0"/>
              </a:rPr>
              <a:t>Evaluate model performance using MSE, RMSE, and R² score.</a:t>
            </a:r>
          </a:p>
          <a:p>
            <a:pPr marL="457200" indent="-457200">
              <a:lnSpc>
                <a:spcPct val="150000"/>
              </a:lnSpc>
              <a:buFont typeface="+mj-lt"/>
              <a:buAutoNum type="arabicPeriod"/>
              <a:defRPr sz="2000"/>
            </a:pPr>
            <a:endParaRPr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4523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A029E85-DFBF-4CD9-5D7F-1518CFBB07DD}"/>
              </a:ext>
            </a:extLst>
          </p:cNvPr>
          <p:cNvSpPr>
            <a:spLocks noGrp="1"/>
          </p:cNvSpPr>
          <p:nvPr>
            <p:ph type="title"/>
          </p:nvPr>
        </p:nvSpPr>
        <p:spPr>
          <a:xfrm>
            <a:off x="609600" y="274638"/>
            <a:ext cx="10972800" cy="1143000"/>
          </a:xfrm>
        </p:spPr>
        <p:txBody>
          <a:bodyPr>
            <a:normAutofit/>
          </a:bodyPr>
          <a:lstStyle/>
          <a:p>
            <a:pPr algn="ctr"/>
            <a:r>
              <a:rPr lang="en-IN" sz="3500" b="1" dirty="0">
                <a:latin typeface="Times New Roman" pitchFamily="18" charset="0"/>
                <a:cs typeface="Times New Roman" pitchFamily="18" charset="0"/>
              </a:rPr>
              <a:t>Model Flow</a:t>
            </a:r>
            <a:endParaRPr sz="3500" b="1" dirty="0">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6715024E-FA16-1711-CA43-A7DC0B3669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5110" y="1417638"/>
            <a:ext cx="8101780" cy="3725915"/>
          </a:xfrm>
          <a:prstGeom prst="rect">
            <a:avLst/>
          </a:prstGeom>
        </p:spPr>
      </p:pic>
      <p:sp>
        <p:nvSpPr>
          <p:cNvPr id="2" name="Rectangle: Rounded Corners 1">
            <a:extLst>
              <a:ext uri="{FF2B5EF4-FFF2-40B4-BE49-F238E27FC236}">
                <a16:creationId xmlns:a16="http://schemas.microsoft.com/office/drawing/2014/main" id="{0137228D-389F-AA12-9B9C-A0F735F59A86}"/>
              </a:ext>
            </a:extLst>
          </p:cNvPr>
          <p:cNvSpPr/>
          <p:nvPr/>
        </p:nvSpPr>
        <p:spPr>
          <a:xfrm>
            <a:off x="4339771" y="3701143"/>
            <a:ext cx="2351315" cy="899886"/>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410834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3B53F4-48FF-E879-ED3D-66F2718397B3}"/>
              </a:ext>
            </a:extLst>
          </p:cNvPr>
          <p:cNvSpPr>
            <a:spLocks noGrp="1"/>
          </p:cNvSpPr>
          <p:nvPr>
            <p:ph type="title"/>
          </p:nvPr>
        </p:nvSpPr>
        <p:spPr>
          <a:xfrm>
            <a:off x="609600" y="274638"/>
            <a:ext cx="10972800" cy="1143000"/>
          </a:xfrm>
        </p:spPr>
        <p:txBody>
          <a:bodyPr>
            <a:normAutofit/>
          </a:bodyPr>
          <a:lstStyle/>
          <a:p>
            <a:pPr algn="ctr"/>
            <a:r>
              <a:rPr sz="3500" b="1" dirty="0">
                <a:latin typeface="Times New Roman" pitchFamily="18" charset="0"/>
                <a:cs typeface="Times New Roman" pitchFamily="18" charset="0"/>
              </a:rPr>
              <a:t>Dataset Description</a:t>
            </a:r>
          </a:p>
        </p:txBody>
      </p:sp>
      <p:sp>
        <p:nvSpPr>
          <p:cNvPr id="2" name="Content Placeholder 1">
            <a:extLst>
              <a:ext uri="{FF2B5EF4-FFF2-40B4-BE49-F238E27FC236}">
                <a16:creationId xmlns:a16="http://schemas.microsoft.com/office/drawing/2014/main" id="{0E0E5CD2-40A8-07A9-BFC0-5A3ED5B23BAA}"/>
              </a:ext>
            </a:extLst>
          </p:cNvPr>
          <p:cNvSpPr>
            <a:spLocks noGrp="1" noChangeArrowheads="1"/>
          </p:cNvSpPr>
          <p:nvPr>
            <p:ph idx="1"/>
          </p:nvPr>
        </p:nvSpPr>
        <p:spPr bwMode="auto">
          <a:xfrm>
            <a:off x="2748423" y="1060517"/>
            <a:ext cx="6695153"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contains historical electricity consumption data </a:t>
            </a:r>
          </a:p>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Fingrid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(Finland electricity dataset) </a:t>
            </a:r>
          </a:p>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 range: 2016 – 2021 </a:t>
            </a:r>
          </a:p>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records: ~52,000+ entries </a:t>
            </a:r>
          </a:p>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collected at hourly intervals </a:t>
            </a:r>
          </a:p>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 features: Timestamp and Consumption (MWh) </a:t>
            </a:r>
          </a:p>
          <a:p>
            <a:pPr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 Univariate time-series dataset </a:t>
            </a:r>
          </a:p>
        </p:txBody>
      </p:sp>
    </p:spTree>
    <p:extLst>
      <p:ext uri="{BB962C8B-B14F-4D97-AF65-F5344CB8AC3E}">
        <p14:creationId xmlns:p14="http://schemas.microsoft.com/office/powerpoint/2010/main" val="1297610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0FE55-2E00-04CB-9EEF-528059545827}"/>
              </a:ext>
            </a:extLst>
          </p:cNvPr>
          <p:cNvSpPr txBox="1">
            <a:spLocks/>
          </p:cNvSpPr>
          <p:nvPr/>
        </p:nvSpPr>
        <p:spPr>
          <a:xfrm>
            <a:off x="609600" y="274638"/>
            <a:ext cx="10972800" cy="1143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500" b="1" dirty="0">
                <a:latin typeface="Times New Roman" pitchFamily="18" charset="0"/>
                <a:cs typeface="Times New Roman" pitchFamily="18" charset="0"/>
              </a:rPr>
              <a:t>Data Preprocessing</a:t>
            </a:r>
          </a:p>
        </p:txBody>
      </p:sp>
      <p:sp>
        <p:nvSpPr>
          <p:cNvPr id="3" name="Content Placeholder 2">
            <a:extLst>
              <a:ext uri="{FF2B5EF4-FFF2-40B4-BE49-F238E27FC236}">
                <a16:creationId xmlns:a16="http://schemas.microsoft.com/office/drawing/2014/main" id="{FEC43D8D-1623-69D9-BB7F-24DDFA440208}"/>
              </a:ext>
            </a:extLst>
          </p:cNvPr>
          <p:cNvSpPr txBox="1">
            <a:spLocks/>
          </p:cNvSpPr>
          <p:nvPr/>
        </p:nvSpPr>
        <p:spPr>
          <a:xfrm>
            <a:off x="2649793" y="1246242"/>
            <a:ext cx="6892413" cy="45259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Font typeface="Arial" panose="020B0604020202020204" pitchFamily="34" charset="0"/>
              <a:buNone/>
              <a:defRPr sz="2000"/>
            </a:pPr>
            <a:r>
              <a:rPr lang="en-US" sz="2000" b="1" dirty="0">
                <a:latin typeface="Times New Roman" pitchFamily="18" charset="0"/>
                <a:cs typeface="Times New Roman" pitchFamily="18" charset="0"/>
              </a:rPr>
              <a:t>Steps:</a:t>
            </a:r>
          </a:p>
          <a:p>
            <a:pPr marL="0" lvl="0" indent="0" eaLnBrk="0" fontAlgn="base" hangingPunct="0">
              <a:lnSpc>
                <a:spcPct val="100000"/>
              </a:lnSpc>
              <a:spcBef>
                <a:spcPct val="0"/>
              </a:spcBef>
              <a:spcAft>
                <a:spcPct val="0"/>
              </a:spcAft>
              <a:buNone/>
            </a:pPr>
            <a:endParaRPr lang="en-US" altLang="en-US" sz="2000" dirty="0">
              <a:latin typeface="Arial" panose="020B0604020202020204" pitchFamily="34" charset="0"/>
            </a:endParaRP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Load the dataset and understand its structure </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Convert timestamp column into proper datetime format </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Sort data in chronological order (time-series format) </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Handle missing or null values (remove or fill) </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Remove duplicates and inconsistent entries </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Resample data if needed (hourly/daily format) </a:t>
            </a:r>
          </a:p>
          <a:p>
            <a:pPr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Normalize or scale data (for LSTM model) </a:t>
            </a:r>
          </a:p>
          <a:p>
            <a:pPr marL="0" indent="0">
              <a:lnSpc>
                <a:spcPct val="160000"/>
              </a:lnSpc>
              <a:buFont typeface="Arial" panose="020B0604020202020204" pitchFamily="34" charset="0"/>
              <a:buNone/>
              <a:defRPr sz="2000"/>
            </a:pPr>
            <a:endParaRPr lang="en-US" sz="2000" b="1" dirty="0">
              <a:latin typeface="Times New Roman" pitchFamily="18" charset="0"/>
              <a:cs typeface="Times New Roman" pitchFamily="18" charset="0"/>
            </a:endParaRPr>
          </a:p>
          <a:p>
            <a:pPr>
              <a:lnSpc>
                <a:spcPct val="160000"/>
              </a:lnSpc>
              <a:defRPr sz="2000"/>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132302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8137-8481-B2F4-BB44-ED537923ECF9}"/>
              </a:ext>
            </a:extLst>
          </p:cNvPr>
          <p:cNvSpPr txBox="1">
            <a:spLocks/>
          </p:cNvSpPr>
          <p:nvPr/>
        </p:nvSpPr>
        <p:spPr>
          <a:xfrm>
            <a:off x="609600" y="274638"/>
            <a:ext cx="10972800" cy="1143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500" b="1" dirty="0">
                <a:latin typeface="Times New Roman" pitchFamily="18" charset="0"/>
                <a:cs typeface="Times New Roman" pitchFamily="18" charset="0"/>
              </a:rPr>
              <a:t>Model Used</a:t>
            </a:r>
          </a:p>
        </p:txBody>
      </p:sp>
      <p:sp>
        <p:nvSpPr>
          <p:cNvPr id="4" name="Rectangle: Rounded Corners 3">
            <a:extLst>
              <a:ext uri="{FF2B5EF4-FFF2-40B4-BE49-F238E27FC236}">
                <a16:creationId xmlns:a16="http://schemas.microsoft.com/office/drawing/2014/main" id="{337114AF-5FBD-73FE-5772-27269DCD1E7D}"/>
              </a:ext>
            </a:extLst>
          </p:cNvPr>
          <p:cNvSpPr/>
          <p:nvPr/>
        </p:nvSpPr>
        <p:spPr>
          <a:xfrm>
            <a:off x="1420760" y="1417638"/>
            <a:ext cx="4210665" cy="2595716"/>
          </a:xfrm>
          <a:prstGeom prst="roundRect">
            <a:avLst/>
          </a:prstGeom>
          <a:ln>
            <a:solidFill>
              <a:schemeClr val="accent1">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lvl="0" eaLnBrk="0" fontAlgn="base" hangingPunct="0">
              <a:spcBef>
                <a:spcPct val="0"/>
              </a:spcBef>
              <a:spcAft>
                <a:spcPct val="0"/>
              </a:spcAft>
            </a:pPr>
            <a:endParaRPr lang="en-US" altLang="en-US" dirty="0">
              <a:solidFill>
                <a:schemeClr val="tx1"/>
              </a:solidFill>
              <a:latin typeface="Arial" panose="020B0604020202020204" pitchFamily="34" charset="0"/>
            </a:endParaRPr>
          </a:p>
        </p:txBody>
      </p:sp>
      <p:sp>
        <p:nvSpPr>
          <p:cNvPr id="6" name="Rectangle: Rounded Corners 5">
            <a:extLst>
              <a:ext uri="{FF2B5EF4-FFF2-40B4-BE49-F238E27FC236}">
                <a16:creationId xmlns:a16="http://schemas.microsoft.com/office/drawing/2014/main" id="{DDBB62FD-26D2-C726-1535-64CE9116509D}"/>
              </a:ext>
            </a:extLst>
          </p:cNvPr>
          <p:cNvSpPr/>
          <p:nvPr/>
        </p:nvSpPr>
        <p:spPr>
          <a:xfrm>
            <a:off x="7103811" y="1389934"/>
            <a:ext cx="4210665" cy="2623420"/>
          </a:xfrm>
          <a:prstGeom prst="roundRect">
            <a:avLst/>
          </a:prstGeom>
          <a:ln>
            <a:solidFill>
              <a:schemeClr val="accent1">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lvl="0" eaLnBrk="0" fontAlgn="base" hangingPunct="0">
              <a:spcBef>
                <a:spcPct val="0"/>
              </a:spcBef>
              <a:spcAft>
                <a:spcPct val="0"/>
              </a:spcAft>
            </a:pPr>
            <a:endParaRPr lang="en-US" altLang="en-US" dirty="0">
              <a:solidFill>
                <a:schemeClr val="tx1"/>
              </a:solidFill>
              <a:latin typeface="Arial" panose="020B0604020202020204" pitchFamily="34" charset="0"/>
            </a:endParaRPr>
          </a:p>
        </p:txBody>
      </p:sp>
      <p:sp>
        <p:nvSpPr>
          <p:cNvPr id="11" name="TextBox 10">
            <a:extLst>
              <a:ext uri="{FF2B5EF4-FFF2-40B4-BE49-F238E27FC236}">
                <a16:creationId xmlns:a16="http://schemas.microsoft.com/office/drawing/2014/main" id="{CE49B42F-DDCC-0D57-7732-A281445CC9D0}"/>
              </a:ext>
            </a:extLst>
          </p:cNvPr>
          <p:cNvSpPr txBox="1"/>
          <p:nvPr/>
        </p:nvSpPr>
        <p:spPr>
          <a:xfrm>
            <a:off x="1917290" y="1805554"/>
            <a:ext cx="3994356" cy="1615827"/>
          </a:xfrm>
          <a:prstGeom prst="rect">
            <a:avLst/>
          </a:prstGeom>
          <a:noFill/>
        </p:spPr>
        <p:txBody>
          <a:bodyPr wrap="square">
            <a:spAutoFit/>
          </a:bodyPr>
          <a:lstStyle/>
          <a:p>
            <a:pPr lvl="0" eaLnBrk="0" fontAlgn="base" hangingPunct="0">
              <a:spcBef>
                <a:spcPct val="0"/>
              </a:spcBef>
              <a:spcAft>
                <a:spcPct val="0"/>
              </a:spcAft>
            </a:pPr>
            <a:r>
              <a:rPr lang="en-US" altLang="en-US" sz="1800" b="1" dirty="0">
                <a:solidFill>
                  <a:schemeClr val="tx1"/>
                </a:solidFill>
                <a:latin typeface="Times New Roman" panose="02020603050405020304" pitchFamily="18" charset="0"/>
                <a:cs typeface="Times New Roman" panose="02020603050405020304" pitchFamily="18" charset="0"/>
              </a:rPr>
              <a:t>Random Forest</a:t>
            </a:r>
            <a:r>
              <a:rPr lang="en-US" altLang="en-US" sz="1800" dirty="0">
                <a:solidFill>
                  <a:schemeClr val="tx1"/>
                </a:solidFill>
                <a:latin typeface="Times New Roman" panose="02020603050405020304" pitchFamily="18" charset="0"/>
                <a:cs typeface="Times New Roman" panose="02020603050405020304" pitchFamily="18" charset="0"/>
              </a:rPr>
              <a:t> </a:t>
            </a:r>
          </a:p>
          <a:p>
            <a:pPr marL="285750" lvl="0" indent="-285750" eaLnBrk="0" fontAlgn="base" hangingPunct="0">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Machine learning algorithm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Handles nonlinear relationships </a:t>
            </a:r>
          </a:p>
          <a:p>
            <a:pPr marL="285750" lvl="0" indent="-285750" eaLnBrk="0" fontAlgn="base" hangingPunct="0">
              <a:spcBef>
                <a:spcPct val="0"/>
              </a:spcBef>
              <a:spcAft>
                <a:spcPct val="0"/>
              </a:spcAft>
              <a:buFont typeface="Arial" panose="020B0604020202020204" pitchFamily="34" charset="0"/>
              <a:buChar char="•"/>
            </a:pPr>
            <a:r>
              <a:rPr lang="en-US" altLang="en-US" sz="1800" dirty="0">
                <a:solidFill>
                  <a:schemeClr val="tx1"/>
                </a:solidFill>
                <a:latin typeface="Times New Roman" panose="02020603050405020304" pitchFamily="18" charset="0"/>
                <a:cs typeface="Times New Roman" panose="02020603050405020304" pitchFamily="18" charset="0"/>
              </a:rPr>
              <a:t>Provides stable and reliable predictions </a:t>
            </a:r>
          </a:p>
        </p:txBody>
      </p:sp>
      <p:sp>
        <p:nvSpPr>
          <p:cNvPr id="13" name="TextBox 12">
            <a:extLst>
              <a:ext uri="{FF2B5EF4-FFF2-40B4-BE49-F238E27FC236}">
                <a16:creationId xmlns:a16="http://schemas.microsoft.com/office/drawing/2014/main" id="{9737F310-D8AC-EE40-7E7C-09A09E3AFF59}"/>
              </a:ext>
            </a:extLst>
          </p:cNvPr>
          <p:cNvSpPr txBox="1"/>
          <p:nvPr/>
        </p:nvSpPr>
        <p:spPr>
          <a:xfrm>
            <a:off x="7320120" y="1637997"/>
            <a:ext cx="3994356" cy="2308324"/>
          </a:xfrm>
          <a:prstGeom prst="rect">
            <a:avLst/>
          </a:prstGeom>
          <a:noFill/>
        </p:spPr>
        <p:txBody>
          <a:bodyPr wrap="square">
            <a:spAutoFit/>
          </a:bodyPr>
          <a:lstStyle/>
          <a:p>
            <a:pPr>
              <a:buNone/>
            </a:pPr>
            <a:r>
              <a:rPr lang="en-US" sz="1800" b="1" dirty="0">
                <a:latin typeface="Times New Roman" panose="02020603050405020304" pitchFamily="18" charset="0"/>
                <a:cs typeface="Times New Roman" panose="02020603050405020304" pitchFamily="18" charset="0"/>
              </a:rPr>
              <a:t>LSTM (Long Short-Term Memory)</a:t>
            </a:r>
            <a:endParaRPr lang="en-US"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Deep learning model for time-series data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Captures temporal (time-based) patterns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Provides higher accuracy in predictions</a:t>
            </a:r>
          </a:p>
        </p:txBody>
      </p:sp>
    </p:spTree>
    <p:extLst>
      <p:ext uri="{BB962C8B-B14F-4D97-AF65-F5344CB8AC3E}">
        <p14:creationId xmlns:p14="http://schemas.microsoft.com/office/powerpoint/2010/main" val="390530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D7FC8-DB25-E68C-8997-5EDAB3C621CC}"/>
              </a:ext>
            </a:extLst>
          </p:cNvPr>
          <p:cNvSpPr txBox="1">
            <a:spLocks/>
          </p:cNvSpPr>
          <p:nvPr/>
        </p:nvSpPr>
        <p:spPr>
          <a:xfrm>
            <a:off x="609600" y="274638"/>
            <a:ext cx="10972800" cy="1143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500" b="1">
                <a:latin typeface="Times New Roman" pitchFamily="18" charset="0"/>
                <a:cs typeface="Times New Roman" pitchFamily="18" charset="0"/>
              </a:rPr>
              <a:t>Model Evaluation</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15FABBE5-D7A2-D824-DEEC-071DFE1C2346}"/>
              </a:ext>
            </a:extLst>
          </p:cNvPr>
          <p:cNvSpPr txBox="1">
            <a:spLocks/>
          </p:cNvSpPr>
          <p:nvPr/>
        </p:nvSpPr>
        <p:spPr>
          <a:xfrm>
            <a:off x="2074606" y="1305235"/>
            <a:ext cx="8327923" cy="380753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sz="2000"/>
            </a:pPr>
            <a:r>
              <a:rPr lang="en-IN" sz="2000" b="1" dirty="0">
                <a:latin typeface="Times New Roman" pitchFamily="18" charset="0"/>
                <a:cs typeface="Times New Roman" pitchFamily="18" charset="0"/>
              </a:rPr>
              <a:t>Performance Metrics:</a:t>
            </a:r>
          </a:p>
          <a:p>
            <a:pPr>
              <a:lnSpc>
                <a:spcPct val="150000"/>
              </a:lnSpc>
            </a:pPr>
            <a:r>
              <a:rPr lang="en-US" sz="2000" b="1" dirty="0">
                <a:latin typeface="Times New Roman" panose="02020603050405020304" pitchFamily="18" charset="0"/>
                <a:cs typeface="Times New Roman" panose="02020603050405020304" pitchFamily="18" charset="0"/>
              </a:rPr>
              <a:t>Mean Squared Error (MSE)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Measures average squared difference between actual and predicted values </a:t>
            </a:r>
          </a:p>
          <a:p>
            <a:pPr>
              <a:lnSpc>
                <a:spcPct val="150000"/>
              </a:lnSpc>
            </a:pPr>
            <a:r>
              <a:rPr lang="en-US" sz="2000" b="1" dirty="0">
                <a:latin typeface="Times New Roman" panose="02020603050405020304" pitchFamily="18" charset="0"/>
                <a:cs typeface="Times New Roman" panose="02020603050405020304" pitchFamily="18" charset="0"/>
              </a:rPr>
              <a:t>Root Mean Squared Error (RMSE)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Square root of MSE, shows error in actual units </a:t>
            </a:r>
          </a:p>
          <a:p>
            <a:pPr>
              <a:lnSpc>
                <a:spcPct val="150000"/>
              </a:lnSpc>
            </a:pPr>
            <a:r>
              <a:rPr lang="en-US" sz="2000" b="1" dirty="0">
                <a:latin typeface="Times New Roman" panose="02020603050405020304" pitchFamily="18" charset="0"/>
                <a:cs typeface="Times New Roman" panose="02020603050405020304" pitchFamily="18" charset="0"/>
              </a:rPr>
              <a:t>R² Score (Coefficient of Determination)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Measures how well the model fits the data (closer to 1 is better) </a:t>
            </a:r>
          </a:p>
          <a:p>
            <a:pPr marL="0" indent="0">
              <a:lnSpc>
                <a:spcPct val="150000"/>
              </a:lnSpc>
              <a:buNone/>
              <a:defRPr sz="2000"/>
            </a:pPr>
            <a:endParaRPr lang="en-IN"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3291792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8669-3F0B-2F1A-72EE-5F5DEFE6BC58}"/>
              </a:ext>
            </a:extLst>
          </p:cNvPr>
          <p:cNvSpPr txBox="1">
            <a:spLocks/>
          </p:cNvSpPr>
          <p:nvPr/>
        </p:nvSpPr>
        <p:spPr>
          <a:xfrm>
            <a:off x="609600" y="274638"/>
            <a:ext cx="10972800" cy="1143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500" b="1" dirty="0">
                <a:latin typeface="Times New Roman" pitchFamily="18" charset="0"/>
                <a:cs typeface="Times New Roman" pitchFamily="18" charset="0"/>
              </a:rPr>
              <a:t>Visualization</a:t>
            </a:r>
          </a:p>
        </p:txBody>
      </p:sp>
      <p:pic>
        <p:nvPicPr>
          <p:cNvPr id="4" name="Picture 3">
            <a:extLst>
              <a:ext uri="{FF2B5EF4-FFF2-40B4-BE49-F238E27FC236}">
                <a16:creationId xmlns:a16="http://schemas.microsoft.com/office/drawing/2014/main" id="{69E9D018-5D00-7E39-BC5D-BB4DB8745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327" y="1563575"/>
            <a:ext cx="4847590" cy="2727960"/>
          </a:xfrm>
          <a:prstGeom prst="rect">
            <a:avLst/>
          </a:prstGeom>
        </p:spPr>
      </p:pic>
      <p:sp>
        <p:nvSpPr>
          <p:cNvPr id="6" name="TextBox 5">
            <a:extLst>
              <a:ext uri="{FF2B5EF4-FFF2-40B4-BE49-F238E27FC236}">
                <a16:creationId xmlns:a16="http://schemas.microsoft.com/office/drawing/2014/main" id="{84E6F860-A557-5D9D-FA13-DFA69655003D}"/>
              </a:ext>
            </a:extLst>
          </p:cNvPr>
          <p:cNvSpPr txBox="1"/>
          <p:nvPr/>
        </p:nvSpPr>
        <p:spPr>
          <a:xfrm>
            <a:off x="1248697" y="4466968"/>
            <a:ext cx="4729316"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Electricity Consumption Over Time (2016–2021)</a:t>
            </a:r>
            <a:endParaRPr lang="en-IN" dirty="0"/>
          </a:p>
        </p:txBody>
      </p:sp>
      <p:pic>
        <p:nvPicPr>
          <p:cNvPr id="7" name="Picture 6">
            <a:extLst>
              <a:ext uri="{FF2B5EF4-FFF2-40B4-BE49-F238E27FC236}">
                <a16:creationId xmlns:a16="http://schemas.microsoft.com/office/drawing/2014/main" id="{DBD1A102-65BF-0E24-D563-D1C10A25EE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5571" y="1563576"/>
            <a:ext cx="4847589" cy="2727960"/>
          </a:xfrm>
          <a:prstGeom prst="rect">
            <a:avLst/>
          </a:prstGeom>
        </p:spPr>
      </p:pic>
      <p:sp>
        <p:nvSpPr>
          <p:cNvPr id="9" name="TextBox 8">
            <a:extLst>
              <a:ext uri="{FF2B5EF4-FFF2-40B4-BE49-F238E27FC236}">
                <a16:creationId xmlns:a16="http://schemas.microsoft.com/office/drawing/2014/main" id="{AC663A39-CB6F-A33B-DB0C-A0E53384BAB5}"/>
              </a:ext>
            </a:extLst>
          </p:cNvPr>
          <p:cNvSpPr txBox="1"/>
          <p:nvPr/>
        </p:nvSpPr>
        <p:spPr>
          <a:xfrm>
            <a:off x="6656439" y="4466968"/>
            <a:ext cx="4847589"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Year-wise Average Electricity Consumption</a:t>
            </a:r>
            <a:endParaRPr lang="en-IN" dirty="0"/>
          </a:p>
        </p:txBody>
      </p:sp>
    </p:spTree>
    <p:extLst>
      <p:ext uri="{BB962C8B-B14F-4D97-AF65-F5344CB8AC3E}">
        <p14:creationId xmlns:p14="http://schemas.microsoft.com/office/powerpoint/2010/main" val="59378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FD8F-66AE-9BF2-B275-4D7EC8F49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DC5EB-6AE5-1C31-D8D5-E77B9FE4413D}"/>
              </a:ext>
            </a:extLst>
          </p:cNvPr>
          <p:cNvSpPr txBox="1">
            <a:spLocks/>
          </p:cNvSpPr>
          <p:nvPr/>
        </p:nvSpPr>
        <p:spPr>
          <a:xfrm>
            <a:off x="2064774" y="245142"/>
            <a:ext cx="7826477" cy="1143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500" b="1" dirty="0">
                <a:latin typeface="Times New Roman" pitchFamily="18" charset="0"/>
                <a:cs typeface="Times New Roman" pitchFamily="18" charset="0"/>
              </a:rPr>
              <a:t>Visualization</a:t>
            </a:r>
          </a:p>
        </p:txBody>
      </p:sp>
      <p:pic>
        <p:nvPicPr>
          <p:cNvPr id="5" name="Picture 4">
            <a:extLst>
              <a:ext uri="{FF2B5EF4-FFF2-40B4-BE49-F238E27FC236}">
                <a16:creationId xmlns:a16="http://schemas.microsoft.com/office/drawing/2014/main" id="{9BD9CB2E-F678-DC7B-66C9-705266A502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2065" y="1388142"/>
            <a:ext cx="4136851" cy="2999040"/>
          </a:xfrm>
          <a:prstGeom prst="rect">
            <a:avLst/>
          </a:prstGeom>
        </p:spPr>
      </p:pic>
      <p:pic>
        <p:nvPicPr>
          <p:cNvPr id="8" name="Picture 7">
            <a:extLst>
              <a:ext uri="{FF2B5EF4-FFF2-40B4-BE49-F238E27FC236}">
                <a16:creationId xmlns:a16="http://schemas.microsoft.com/office/drawing/2014/main" id="{7C9AD41A-BA74-E065-2666-D7F543B8BA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76840" y="1388142"/>
            <a:ext cx="4207469" cy="2999040"/>
          </a:xfrm>
          <a:prstGeom prst="rect">
            <a:avLst/>
          </a:prstGeom>
        </p:spPr>
      </p:pic>
      <p:sp>
        <p:nvSpPr>
          <p:cNvPr id="11" name="TextBox 10">
            <a:extLst>
              <a:ext uri="{FF2B5EF4-FFF2-40B4-BE49-F238E27FC236}">
                <a16:creationId xmlns:a16="http://schemas.microsoft.com/office/drawing/2014/main" id="{FA782C5D-187E-B184-0B9C-46B70B364BC1}"/>
              </a:ext>
            </a:extLst>
          </p:cNvPr>
          <p:cNvSpPr txBox="1"/>
          <p:nvPr/>
        </p:nvSpPr>
        <p:spPr>
          <a:xfrm>
            <a:off x="1395285" y="4515154"/>
            <a:ext cx="4207469" cy="369332"/>
          </a:xfrm>
          <a:prstGeom prst="rect">
            <a:avLst/>
          </a:prstGeom>
          <a:noFill/>
        </p:spPr>
        <p:txBody>
          <a:bodyPr wrap="square">
            <a:spAutoFit/>
          </a:bodyPr>
          <a:lstStyle/>
          <a:p>
            <a:r>
              <a:rPr lang="en-IN" sz="1800">
                <a:solidFill>
                  <a:srgbClr val="000000"/>
                </a:solidFill>
                <a:effectLst/>
                <a:latin typeface="Times New Roman" panose="02020603050405020304" pitchFamily="18" charset="0"/>
                <a:ea typeface="Times New Roman" panose="02020603050405020304" pitchFamily="18" charset="0"/>
              </a:rPr>
              <a:t>Energy Consumption vs Month (Box Plot)</a:t>
            </a:r>
            <a:endParaRPr lang="en-IN" dirty="0"/>
          </a:p>
        </p:txBody>
      </p:sp>
      <p:sp>
        <p:nvSpPr>
          <p:cNvPr id="13" name="TextBox 12">
            <a:extLst>
              <a:ext uri="{FF2B5EF4-FFF2-40B4-BE49-F238E27FC236}">
                <a16:creationId xmlns:a16="http://schemas.microsoft.com/office/drawing/2014/main" id="{3998F944-D549-D322-C8F7-A17838D11438}"/>
              </a:ext>
            </a:extLst>
          </p:cNvPr>
          <p:cNvSpPr txBox="1"/>
          <p:nvPr/>
        </p:nvSpPr>
        <p:spPr>
          <a:xfrm>
            <a:off x="6589248" y="4422244"/>
            <a:ext cx="4965290" cy="462242"/>
          </a:xfrm>
          <a:prstGeom prst="rect">
            <a:avLst/>
          </a:prstGeom>
          <a:noFill/>
        </p:spPr>
        <p:txBody>
          <a:bodyPr wrap="square">
            <a:spAutoFit/>
          </a:bodyPr>
          <a:lstStyle/>
          <a:p>
            <a:pPr marL="5715" marR="101600" indent="-6350" algn="ctr">
              <a:lnSpc>
                <a:spcPct val="152000"/>
              </a:lnSpc>
              <a:spcAft>
                <a:spcPts val="1020"/>
              </a:spcAft>
              <a:buNone/>
            </a:pPr>
            <a:r>
              <a:rPr lang="en-IN" sz="1800" kern="100" dirty="0">
                <a:solidFill>
                  <a:srgbClr val="000000"/>
                </a:solidFill>
                <a:effectLst/>
                <a:latin typeface="Times New Roman" panose="02020603050405020304" pitchFamily="18" charset="0"/>
                <a:ea typeface="Times New Roman" panose="02020603050405020304" pitchFamily="18" charset="0"/>
              </a:rPr>
              <a:t>Energy Consumption vs Hour (Box Plot)</a:t>
            </a:r>
            <a:endParaRPr lang="en-IN" sz="2800" kern="1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9514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6A067-2F92-A61E-F88D-B2C55F672DFE}"/>
              </a:ext>
            </a:extLst>
          </p:cNvPr>
          <p:cNvSpPr txBox="1">
            <a:spLocks/>
          </p:cNvSpPr>
          <p:nvPr/>
        </p:nvSpPr>
        <p:spPr>
          <a:xfrm>
            <a:off x="609600" y="274638"/>
            <a:ext cx="10972800" cy="1143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500" b="1">
                <a:latin typeface="Times New Roman" pitchFamily="18" charset="0"/>
                <a:cs typeface="Times New Roman" pitchFamily="18" charset="0"/>
              </a:rPr>
              <a:t>Results</a:t>
            </a:r>
            <a:endParaRPr lang="en-IN" sz="35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5A0EB75F-577B-4077-419C-005955F94ECD}"/>
              </a:ext>
            </a:extLst>
          </p:cNvPr>
          <p:cNvSpPr txBox="1">
            <a:spLocks/>
          </p:cNvSpPr>
          <p:nvPr/>
        </p:nvSpPr>
        <p:spPr>
          <a:xfrm>
            <a:off x="983933" y="1246243"/>
            <a:ext cx="5112067" cy="4328648"/>
          </a:xfrm>
          <a:prstGeom prst="rect">
            <a:avLst/>
          </a:prstGeom>
        </p:spPr>
        <p:txBody>
          <a:bodyPr>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000" dirty="0">
                <a:latin typeface="Times New Roman" panose="02020603050405020304" pitchFamily="18" charset="0"/>
                <a:cs typeface="Times New Roman" panose="02020603050405020304" pitchFamily="18" charset="0"/>
              </a:rPr>
              <a:t>The proposed ML and DL-based forecasting system shows improved performance over traditional methods </a:t>
            </a:r>
          </a:p>
          <a:p>
            <a:pPr>
              <a:lnSpc>
                <a:spcPct val="150000"/>
              </a:lnSpc>
            </a:pPr>
            <a:r>
              <a:rPr lang="en-US" sz="2000" b="1" dirty="0">
                <a:latin typeface="Times New Roman" panose="02020603050405020304" pitchFamily="18" charset="0"/>
                <a:cs typeface="Times New Roman" panose="02020603050405020304" pitchFamily="18" charset="0"/>
              </a:rPr>
              <a:t>Random Forest R² ≈ 0.91</a:t>
            </a:r>
            <a:r>
              <a:rPr lang="en-US" sz="2000" dirty="0">
                <a:latin typeface="Times New Roman" panose="02020603050405020304" pitchFamily="18" charset="0"/>
                <a:cs typeface="Times New Roman" panose="02020603050405020304" pitchFamily="18" charset="0"/>
              </a:rPr>
              <a:t> (good at capturing nonlinear patterns) </a:t>
            </a:r>
          </a:p>
          <a:p>
            <a:pPr>
              <a:lnSpc>
                <a:spcPct val="150000"/>
              </a:lnSpc>
            </a:pPr>
            <a:r>
              <a:rPr lang="en-US" sz="2000" b="1" dirty="0">
                <a:latin typeface="Times New Roman" panose="02020603050405020304" pitchFamily="18" charset="0"/>
                <a:cs typeface="Times New Roman" panose="02020603050405020304" pitchFamily="18" charset="0"/>
              </a:rPr>
              <a:t>LSTM RMSE ≈ 0.08</a:t>
            </a:r>
            <a:r>
              <a:rPr lang="en-US" sz="2000" dirty="0">
                <a:latin typeface="Times New Roman" panose="02020603050405020304" pitchFamily="18" charset="0"/>
                <a:cs typeface="Times New Roman" panose="02020603050405020304" pitchFamily="18" charset="0"/>
              </a:rPr>
              <a:t> (high accuracy in time-series prediction) </a:t>
            </a:r>
          </a:p>
          <a:p>
            <a:pPr>
              <a:lnSpc>
                <a:spcPct val="150000"/>
              </a:lnSpc>
            </a:pPr>
            <a:r>
              <a:rPr lang="en-US" sz="2000" dirty="0">
                <a:latin typeface="Times New Roman" panose="02020603050405020304" pitchFamily="18" charset="0"/>
                <a:cs typeface="Times New Roman" panose="02020603050405020304" pitchFamily="18" charset="0"/>
              </a:rPr>
              <a:t>LSTM performs better in capturing temporal dependencies </a:t>
            </a:r>
          </a:p>
          <a:p>
            <a:pPr>
              <a:lnSpc>
                <a:spcPct val="150000"/>
              </a:lnSpc>
            </a:pPr>
            <a:r>
              <a:rPr lang="en-US" sz="2000" dirty="0">
                <a:latin typeface="Times New Roman" panose="02020603050405020304" pitchFamily="18" charset="0"/>
                <a:cs typeface="Times New Roman" panose="02020603050405020304" pitchFamily="18" charset="0"/>
              </a:rPr>
              <a:t>Predictions closely match actual electricity consumption </a:t>
            </a:r>
          </a:p>
          <a:p>
            <a:pPr>
              <a:lnSpc>
                <a:spcPct val="150000"/>
              </a:lnSpc>
              <a:defRPr sz="2000"/>
            </a:pPr>
            <a:endParaRPr lang="en-IN" sz="2000" dirty="0">
              <a:latin typeface="Times New Roman" panose="02020603050405020304" pitchFamily="18" charset="0"/>
              <a:cs typeface="Times New Roman" pitchFamily="18" charset="0"/>
            </a:endParaRPr>
          </a:p>
        </p:txBody>
      </p:sp>
      <p:pic>
        <p:nvPicPr>
          <p:cNvPr id="4" name="Picture 3">
            <a:extLst>
              <a:ext uri="{FF2B5EF4-FFF2-40B4-BE49-F238E27FC236}">
                <a16:creationId xmlns:a16="http://schemas.microsoft.com/office/drawing/2014/main" id="{BD7FEC2D-C482-F9F3-77E2-290EA0DA1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0332" y="1503229"/>
            <a:ext cx="4737735" cy="2881958"/>
          </a:xfrm>
          <a:prstGeom prst="rect">
            <a:avLst/>
          </a:prstGeom>
        </p:spPr>
      </p:pic>
      <p:sp>
        <p:nvSpPr>
          <p:cNvPr id="7" name="TextBox 6">
            <a:extLst>
              <a:ext uri="{FF2B5EF4-FFF2-40B4-BE49-F238E27FC236}">
                <a16:creationId xmlns:a16="http://schemas.microsoft.com/office/drawing/2014/main" id="{C9518753-9A11-DEDC-CED4-69B3674BE467}"/>
              </a:ext>
            </a:extLst>
          </p:cNvPr>
          <p:cNvSpPr txBox="1"/>
          <p:nvPr/>
        </p:nvSpPr>
        <p:spPr>
          <a:xfrm>
            <a:off x="6675396" y="4470778"/>
            <a:ext cx="4532671" cy="369332"/>
          </a:xfrm>
          <a:prstGeom prst="rect">
            <a:avLst/>
          </a:prstGeom>
          <a:noFill/>
        </p:spPr>
        <p:txBody>
          <a:bodyPr wrap="square">
            <a:spAutoFit/>
          </a:bodyPr>
          <a:lstStyle/>
          <a:p>
            <a:r>
              <a:rPr lang="en-IN" sz="1800" dirty="0">
                <a:solidFill>
                  <a:srgbClr val="000000"/>
                </a:solidFill>
                <a:effectLst/>
                <a:latin typeface="Times New Roman" panose="02020603050405020304" pitchFamily="18" charset="0"/>
                <a:ea typeface="Times New Roman" panose="02020603050405020304" pitchFamily="18" charset="0"/>
              </a:rPr>
              <a:t>Actual vs Predicted Electricity Consumption</a:t>
            </a:r>
            <a:endParaRPr lang="en-IN" dirty="0"/>
          </a:p>
        </p:txBody>
      </p:sp>
    </p:spTree>
    <p:extLst>
      <p:ext uri="{BB962C8B-B14F-4D97-AF65-F5344CB8AC3E}">
        <p14:creationId xmlns:p14="http://schemas.microsoft.com/office/powerpoint/2010/main" val="1562127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16B50-69E5-5FB0-DBEB-F5C61DADDBD2}"/>
              </a:ext>
            </a:extLst>
          </p:cNvPr>
          <p:cNvSpPr txBox="1">
            <a:spLocks/>
          </p:cNvSpPr>
          <p:nvPr/>
        </p:nvSpPr>
        <p:spPr>
          <a:xfrm>
            <a:off x="609600" y="274638"/>
            <a:ext cx="10972800" cy="1143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500" b="1" dirty="0">
                <a:latin typeface="Times New Roman" pitchFamily="18" charset="0"/>
                <a:cs typeface="Times New Roman" pitchFamily="18" charset="0"/>
              </a:rPr>
              <a:t>Conclusion </a:t>
            </a:r>
          </a:p>
        </p:txBody>
      </p:sp>
      <p:sp>
        <p:nvSpPr>
          <p:cNvPr id="3" name="Content Placeholder 2">
            <a:extLst>
              <a:ext uri="{FF2B5EF4-FFF2-40B4-BE49-F238E27FC236}">
                <a16:creationId xmlns:a16="http://schemas.microsoft.com/office/drawing/2014/main" id="{EFD11AE7-00AE-5C6E-5961-031E4CC7C89D}"/>
              </a:ext>
            </a:extLst>
          </p:cNvPr>
          <p:cNvSpPr txBox="1">
            <a:spLocks/>
          </p:cNvSpPr>
          <p:nvPr/>
        </p:nvSpPr>
        <p:spPr>
          <a:xfrm>
            <a:off x="1673311" y="1487005"/>
            <a:ext cx="8581735" cy="413704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sz="2000"/>
            </a:pPr>
            <a:endParaRPr lang="en-US" sz="2000"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D80BAC7C-71B6-AF7A-A18E-F52F9E4A8FB7}"/>
              </a:ext>
            </a:extLst>
          </p:cNvPr>
          <p:cNvSpPr txBox="1"/>
          <p:nvPr/>
        </p:nvSpPr>
        <p:spPr>
          <a:xfrm>
            <a:off x="2467896" y="1210205"/>
            <a:ext cx="7256208" cy="2345322"/>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a forecasting system using Random Forest and LSTM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Successfully analyzed historical electricity consumption data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LSTM provided better accuracy by capturing time-based patterns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helps in efficient energy planning and management </a:t>
            </a:r>
          </a:p>
        </p:txBody>
      </p:sp>
    </p:spTree>
    <p:extLst>
      <p:ext uri="{BB962C8B-B14F-4D97-AF65-F5344CB8AC3E}">
        <p14:creationId xmlns:p14="http://schemas.microsoft.com/office/powerpoint/2010/main" val="2632944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59DD3-9DF3-C728-E799-E2B2E9FE5670}"/>
              </a:ext>
            </a:extLst>
          </p:cNvPr>
          <p:cNvSpPr txBox="1">
            <a:spLocks/>
          </p:cNvSpPr>
          <p:nvPr/>
        </p:nvSpPr>
        <p:spPr>
          <a:xfrm>
            <a:off x="609600" y="274638"/>
            <a:ext cx="10972800" cy="11430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500" b="1" dirty="0">
                <a:latin typeface="Times New Roman" pitchFamily="18" charset="0"/>
                <a:cs typeface="Times New Roman" pitchFamily="18" charset="0"/>
              </a:rPr>
              <a:t>Future Scope</a:t>
            </a:r>
          </a:p>
        </p:txBody>
      </p:sp>
      <p:sp>
        <p:nvSpPr>
          <p:cNvPr id="3" name="Content Placeholder 2">
            <a:extLst>
              <a:ext uri="{FF2B5EF4-FFF2-40B4-BE49-F238E27FC236}">
                <a16:creationId xmlns:a16="http://schemas.microsoft.com/office/drawing/2014/main" id="{ADC11677-D5B0-A4E5-0582-E0FCB10BDD51}"/>
              </a:ext>
            </a:extLst>
          </p:cNvPr>
          <p:cNvSpPr txBox="1">
            <a:spLocks/>
          </p:cNvSpPr>
          <p:nvPr/>
        </p:nvSpPr>
        <p:spPr>
          <a:xfrm>
            <a:off x="1641987" y="1521546"/>
            <a:ext cx="7698658" cy="32569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defRPr sz="2000"/>
            </a:pPr>
            <a:endParaRPr lang="en-IN" sz="2000"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B7B6C587-53F1-B18F-A472-EAE8BCC76AA8}"/>
              </a:ext>
            </a:extLst>
          </p:cNvPr>
          <p:cNvSpPr txBox="1"/>
          <p:nvPr/>
        </p:nvSpPr>
        <p:spPr>
          <a:xfrm>
            <a:off x="2851355" y="951637"/>
            <a:ext cx="6882581" cy="2345322"/>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real-time data using IoT/smart meters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 additional features like weather and user behavior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advanced models like Transformers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web/mobile dashboard for real-time monitoring </a:t>
            </a:r>
          </a:p>
        </p:txBody>
      </p:sp>
    </p:spTree>
    <p:extLst>
      <p:ext uri="{BB962C8B-B14F-4D97-AF65-F5344CB8AC3E}">
        <p14:creationId xmlns:p14="http://schemas.microsoft.com/office/powerpoint/2010/main" val="4054531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0588A7B2-938E-7F85-D123-7CE3761CBEE3}"/>
              </a:ext>
            </a:extLst>
          </p:cNvPr>
          <p:cNvSpPr txBox="1">
            <a:spLocks/>
          </p:cNvSpPr>
          <p:nvPr/>
        </p:nvSpPr>
        <p:spPr>
          <a:xfrm>
            <a:off x="914400" y="2130428"/>
            <a:ext cx="10363200" cy="14700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latin typeface="Times New Roman" pitchFamily="18" charset="0"/>
                <a:cs typeface="Times New Roman" pitchFamily="18" charset="0"/>
              </a:rPr>
              <a:t>Thank You</a:t>
            </a:r>
            <a:endParaRPr lang="en-IN" sz="8800" dirty="0">
              <a:latin typeface="Times New Roman" pitchFamily="18" charset="0"/>
              <a:cs typeface="Times New Roman" pitchFamily="18" charset="0"/>
            </a:endParaRPr>
          </a:p>
        </p:txBody>
      </p:sp>
    </p:spTree>
    <p:extLst>
      <p:ext uri="{BB962C8B-B14F-4D97-AF65-F5344CB8AC3E}">
        <p14:creationId xmlns:p14="http://schemas.microsoft.com/office/powerpoint/2010/main" val="3920153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826</TotalTime>
  <Words>983</Words>
  <Application>Microsoft Office PowerPoint</Application>
  <PresentationFormat>Widescreen</PresentationFormat>
  <Paragraphs>120</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vt:lpstr>
      <vt:lpstr>System Design (Algorithms)</vt:lpstr>
      <vt:lpstr>Model Flow</vt:lpstr>
      <vt:lpstr>Dataset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DEENAJA BATCHU</dc:creator>
  <cp:lastModifiedBy>Javvaji Kavya</cp:lastModifiedBy>
  <cp:revision>12</cp:revision>
  <dcterms:created xsi:type="dcterms:W3CDTF">2026-03-15T14:11:56Z</dcterms:created>
  <dcterms:modified xsi:type="dcterms:W3CDTF">2026-04-21T16:39:00Z</dcterms:modified>
</cp:coreProperties>
</file>